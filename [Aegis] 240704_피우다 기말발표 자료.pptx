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video/mp4" Extension="mp4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32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</p:sldIdLst>
  <p:sldSz cx="18288000" cy="10287000"/>
  <p:notesSz cx="6858000" cy="9144000"/>
  <p:embeddedFontLst>
    <p:embeddedFont>
      <p:font typeface="Inter Bold" charset="1" panose="020B0802030000000004"/>
      <p:regular r:id="rId29"/>
    </p:embeddedFont>
    <p:embeddedFont>
      <p:font typeface="Open Sans Bold" charset="1" panose="00000000000000000000"/>
      <p:regular r:id="rId30"/>
    </p:embeddedFont>
    <p:embeddedFont>
      <p:font typeface="Open Sans Semi-Bold" charset="1" panose="00000000000000000000"/>
      <p:regular r:id="rId31"/>
    </p:embeddedFont>
    <p:embeddedFont>
      <p:font typeface="Canva Sans Bold" charset="1" panose="020B0803030501040103"/>
      <p:regular r:id="rId35"/>
    </p:embeddedFont>
    <p:embeddedFont>
      <p:font typeface="DM Sans Bold" charset="1" panose="00000000000000000000"/>
      <p:regular r:id="rId36"/>
    </p:embeddedFont>
    <p:embeddedFont>
      <p:font typeface="Open Sans" charset="1" panose="00000000000000000000"/>
      <p:regular r:id="rId3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fonts/font31.fntdata" Type="http://schemas.openxmlformats.org/officeDocument/2006/relationships/font"/><Relationship Id="rId32" Target="notesMasters/notesMaster1.xml" Type="http://schemas.openxmlformats.org/officeDocument/2006/relationships/notesMaster"/><Relationship Id="rId33" Target="theme/theme2.xml" Type="http://schemas.openxmlformats.org/officeDocument/2006/relationships/theme"/><Relationship Id="rId34" Target="notesSlides/notesSlide1.xml" Type="http://schemas.openxmlformats.org/officeDocument/2006/relationships/notesSlide"/><Relationship Id="rId35" Target="fonts/font35.fntdata" Type="http://schemas.openxmlformats.org/officeDocument/2006/relationships/font"/><Relationship Id="rId36" Target="fonts/font36.fntdata" Type="http://schemas.openxmlformats.org/officeDocument/2006/relationships/font"/><Relationship Id="rId37" Target="fonts/font37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notesSlide1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a) 우울증 확실 또는 의심: 66.3%</a:t>
            </a:r>
          </a:p>
          <a:p>
            <a:r>
              <a:rPr lang="en-US"/>
              <a:t>b) 문제성 음주: 38.8%</a:t>
            </a:r>
          </a:p>
          <a:p>
            <a:r>
              <a:rPr lang="en-US"/>
              <a:t>c) 대사성 질환: 37.6%</a:t>
            </a:r>
          </a:p>
          <a:p>
            <a:r>
              <a:rPr lang="en-US"/>
              <a:t>d) 정신질환: 22.5%</a:t>
            </a:r>
          </a:p>
          <a:p>
            <a:r>
              <a:rPr lang="en-US"/>
              <a:t>e) 관절질환: 15.1%</a:t>
            </a:r>
          </a:p>
          <a:p>
            <a:r>
              <a:rPr lang="en-US"/>
              <a:t>f) 치과 질환: 11.8%</a:t>
            </a:r>
          </a:p>
          <a:p>
            <a:r>
              <a:rPr lang="en-US"/>
              <a:t/>
            </a:r>
          </a:p>
          <a:p>
            <a:r>
              <a:rPr lang="en-US"/>
              <a:t># 정신질환</a:t>
            </a:r>
          </a:p>
          <a:p>
            <a:r>
              <a:rPr lang="en-US"/>
              <a:t>= a + d</a:t>
            </a:r>
          </a:p>
          <a:p>
            <a:r>
              <a:rPr lang="en-US"/>
              <a:t/>
            </a:r>
          </a:p>
          <a:p>
            <a:r>
              <a:rPr lang="en-US"/>
              <a:t># 대사성 질환</a:t>
            </a:r>
          </a:p>
          <a:p>
            <a:r>
              <a:rPr lang="en-US"/>
              <a:t>= c</a:t>
            </a:r>
          </a:p>
          <a:p>
            <a:r>
              <a:rPr lang="en-US"/>
              <a:t/>
            </a:r>
          </a:p>
          <a:p>
            <a:r>
              <a:rPr lang="en-US"/>
              <a:t># 관절 질환</a:t>
            </a:r>
          </a:p>
          <a:p>
            <a:r>
              <a:rPr lang="en-US"/>
              <a:t>= e</a:t>
            </a:r>
          </a:p>
          <a:p>
            <a:r>
              <a:rPr lang="en-US"/>
              <a:t/>
            </a:r>
          </a:p>
          <a:p>
            <a:r>
              <a:rPr lang="en-US"/>
              <a:t># 기타 질환</a:t>
            </a:r>
          </a:p>
          <a:p>
            <a:r>
              <a:rPr lang="en-US"/>
              <a:t>= b + f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png" Type="http://schemas.openxmlformats.org/officeDocument/2006/relationships/image"/><Relationship Id="rId2" Target="../notesSlides/notesSlide1.xml" Type="http://schemas.openxmlformats.org/officeDocument/2006/relationships/notesSlide"/><Relationship Id="rId3" Target="../media/image4.png" Type="http://schemas.openxmlformats.org/officeDocument/2006/relationships/image"/><Relationship Id="rId4" Target="../media/image5.png" Type="http://schemas.openxmlformats.org/officeDocument/2006/relationships/image"/><Relationship Id="rId5" Target="../media/image6.png" Type="http://schemas.openxmlformats.org/officeDocument/2006/relationships/image"/><Relationship Id="rId6" Target="../media/image7.png" Type="http://schemas.openxmlformats.org/officeDocument/2006/relationships/image"/><Relationship Id="rId7" Target="../media/image8.png" Type="http://schemas.openxmlformats.org/officeDocument/2006/relationships/image"/><Relationship Id="rId8" Target="../media/image9.png" Type="http://schemas.openxmlformats.org/officeDocument/2006/relationships/image"/><Relationship Id="rId9" Target="../media/image10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5.svg" Type="http://schemas.openxmlformats.org/officeDocument/2006/relationships/image"/><Relationship Id="rId4" Target="../media/image16.png" Type="http://schemas.openxmlformats.org/officeDocument/2006/relationships/image"/><Relationship Id="rId5" Target="../media/image17.svg" Type="http://schemas.openxmlformats.org/officeDocument/2006/relationships/image"/><Relationship Id="rId6" Target="../media/image18.png" Type="http://schemas.openxmlformats.org/officeDocument/2006/relationships/image"/><Relationship Id="rId7" Target="../media/image19.png" Type="http://schemas.openxmlformats.org/officeDocument/2006/relationships/image"/><Relationship Id="rId8" Target="../media/image20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9.png" Type="http://schemas.openxmlformats.org/officeDocument/2006/relationships/image"/><Relationship Id="rId11" Target="../media/image30.svg" Type="http://schemas.openxmlformats.org/officeDocument/2006/relationships/image"/><Relationship Id="rId2" Target="../media/image21.png" Type="http://schemas.openxmlformats.org/officeDocument/2006/relationships/image"/><Relationship Id="rId3" Target="../media/image22.svg" Type="http://schemas.openxmlformats.org/officeDocument/2006/relationships/image"/><Relationship Id="rId4" Target="../media/image23.png" Type="http://schemas.openxmlformats.org/officeDocument/2006/relationships/image"/><Relationship Id="rId5" Target="../media/image24.svg" Type="http://schemas.openxmlformats.org/officeDocument/2006/relationships/image"/><Relationship Id="rId6" Target="../media/image25.png" Type="http://schemas.openxmlformats.org/officeDocument/2006/relationships/image"/><Relationship Id="rId7" Target="../media/image26.svg" Type="http://schemas.openxmlformats.org/officeDocument/2006/relationships/image"/><Relationship Id="rId8" Target="../media/image27.png" Type="http://schemas.openxmlformats.org/officeDocument/2006/relationships/image"/><Relationship Id="rId9" Target="../media/image28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1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2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3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0.png" Type="http://schemas.openxmlformats.org/officeDocument/2006/relationships/image"/><Relationship Id="rId11" Target="../media/image41.svg" Type="http://schemas.openxmlformats.org/officeDocument/2006/relationships/image"/><Relationship Id="rId12" Target="../media/image42.png" Type="http://schemas.openxmlformats.org/officeDocument/2006/relationships/image"/><Relationship Id="rId13" Target="../media/image43.svg" Type="http://schemas.openxmlformats.org/officeDocument/2006/relationships/image"/><Relationship Id="rId14" Target="../media/image44.png" Type="http://schemas.openxmlformats.org/officeDocument/2006/relationships/image"/><Relationship Id="rId15" Target="../media/image45.png" Type="http://schemas.openxmlformats.org/officeDocument/2006/relationships/image"/><Relationship Id="rId16" Target="../media/image46.svg" Type="http://schemas.openxmlformats.org/officeDocument/2006/relationships/image"/><Relationship Id="rId17" Target="../media/image47.png" Type="http://schemas.openxmlformats.org/officeDocument/2006/relationships/image"/><Relationship Id="rId18" Target="../media/image48.svg" Type="http://schemas.openxmlformats.org/officeDocument/2006/relationships/image"/><Relationship Id="rId19" Target="../media/image49.png" Type="http://schemas.openxmlformats.org/officeDocument/2006/relationships/image"/><Relationship Id="rId2" Target="../media/image12.png" Type="http://schemas.openxmlformats.org/officeDocument/2006/relationships/image"/><Relationship Id="rId20" Target="../media/image50.svg" Type="http://schemas.openxmlformats.org/officeDocument/2006/relationships/image"/><Relationship Id="rId3" Target="../media/image13.svg" Type="http://schemas.openxmlformats.org/officeDocument/2006/relationships/image"/><Relationship Id="rId4" Target="../media/image34.png" Type="http://schemas.openxmlformats.org/officeDocument/2006/relationships/image"/><Relationship Id="rId5" Target="../media/image35.svg" Type="http://schemas.openxmlformats.org/officeDocument/2006/relationships/image"/><Relationship Id="rId6" Target="../media/image36.png" Type="http://schemas.openxmlformats.org/officeDocument/2006/relationships/image"/><Relationship Id="rId7" Target="../media/image37.svg" Type="http://schemas.openxmlformats.org/officeDocument/2006/relationships/image"/><Relationship Id="rId8" Target="../media/image38.png" Type="http://schemas.openxmlformats.org/officeDocument/2006/relationships/image"/><Relationship Id="rId9" Target="../media/image39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1.png" Type="http://schemas.openxmlformats.org/officeDocument/2006/relationships/image"/><Relationship Id="rId3" Target="../media/image52.jpeg" Type="http://schemas.openxmlformats.org/officeDocument/2006/relationships/image"/><Relationship Id="rId4" Target="../media/VAGJbfKEc-Y.mp4" Type="http://schemas.openxmlformats.org/officeDocument/2006/relationships/video"/><Relationship Id="rId5" Target="../media/VAGJbfKEc-Y.mp4" Type="http://schemas.microsoft.com/office/2007/relationships/media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3.png" Type="http://schemas.openxmlformats.org/officeDocument/2006/relationships/image"/><Relationship Id="rId3" Target="../media/image54.jpeg" Type="http://schemas.openxmlformats.org/officeDocument/2006/relationships/image"/><Relationship Id="rId4" Target="../media/VAGJbV7X7k8.mp4" Type="http://schemas.openxmlformats.org/officeDocument/2006/relationships/video"/><Relationship Id="rId5" Target="../media/VAGJbV7X7k8.mp4" Type="http://schemas.microsoft.com/office/2007/relationships/media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5.png" Type="http://schemas.openxmlformats.org/officeDocument/2006/relationships/image"/><Relationship Id="rId3" Target="../media/image56.jpeg" Type="http://schemas.openxmlformats.org/officeDocument/2006/relationships/image"/><Relationship Id="rId4" Target="../media/VAGJbYTG0Tg.mp4" Type="http://schemas.openxmlformats.org/officeDocument/2006/relationships/video"/><Relationship Id="rId5" Target="../media/VAGJbYTG0Tg.mp4" Type="http://schemas.microsoft.com/office/2007/relationships/media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7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8.png" Type="http://schemas.openxmlformats.org/officeDocument/2006/relationships/image"/><Relationship Id="rId3" Target="../media/image59.png" Type="http://schemas.openxmlformats.org/officeDocument/2006/relationships/image"/><Relationship Id="rId4" Target="../media/image60.png" Type="http://schemas.openxmlformats.org/officeDocument/2006/relationships/image"/><Relationship Id="rId5" Target="../media/image61.png" Type="http://schemas.openxmlformats.org/officeDocument/2006/relationships/image"/><Relationship Id="rId6" Target="../media/image62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3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1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4.jpeg" Type="http://schemas.openxmlformats.org/officeDocument/2006/relationships/image"/><Relationship Id="rId3" Target="../media/VAGJbeB2kwk.mp4" Type="http://schemas.openxmlformats.org/officeDocument/2006/relationships/video"/><Relationship Id="rId4" Target="../media/VAGJbeB2kwk.mp4" Type="http://schemas.microsoft.com/office/2007/relationships/media"/><Relationship Id="rId5" Target="../media/image65.jpeg" Type="http://schemas.openxmlformats.org/officeDocument/2006/relationships/image"/><Relationship Id="rId6" Target="../media/VAGJbct3cJA.mp4" Type="http://schemas.openxmlformats.org/officeDocument/2006/relationships/video"/><Relationship Id="rId7" Target="../media/VAGJbct3cJA.mp4" Type="http://schemas.microsoft.com/office/2007/relationships/media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6.jpeg" Type="http://schemas.openxmlformats.org/officeDocument/2006/relationships/image"/><Relationship Id="rId3" Target="../media/VAGJbYdrYP0.mp4" Type="http://schemas.openxmlformats.org/officeDocument/2006/relationships/video"/><Relationship Id="rId4" Target="../media/VAGJbYdrYP0.mp4" Type="http://schemas.microsoft.com/office/2007/relationships/media"/><Relationship Id="rId5" Target="../media/image67.jpeg" Type="http://schemas.openxmlformats.org/officeDocument/2006/relationships/image"/><Relationship Id="rId6" Target="../media/VAGJbSkp2vA.mp4" Type="http://schemas.openxmlformats.org/officeDocument/2006/relationships/video"/><Relationship Id="rId7" Target="../media/VAGJbSkp2vA.mp4" Type="http://schemas.microsoft.com/office/2007/relationships/media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8.jpeg" Type="http://schemas.openxmlformats.org/officeDocument/2006/relationships/image"/><Relationship Id="rId3" Target="../media/VAGJbQyyiW8.mp4" Type="http://schemas.openxmlformats.org/officeDocument/2006/relationships/video"/><Relationship Id="rId4" Target="../media/VAGJbQyyiW8.mp4" Type="http://schemas.microsoft.com/office/2007/relationships/media"/><Relationship Id="rId5" Target="../media/image69.jpeg" Type="http://schemas.openxmlformats.org/officeDocument/2006/relationships/image"/><Relationship Id="rId6" Target="../media/VAGJbRyzs_w.mp4" Type="http://schemas.openxmlformats.org/officeDocument/2006/relationships/video"/><Relationship Id="rId7" Target="../media/VAGJbRyzs_w.mp4" Type="http://schemas.microsoft.com/office/2007/relationships/media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0.jpeg" Type="http://schemas.openxmlformats.org/officeDocument/2006/relationships/image"/><Relationship Id="rId3" Target="../media/VAGJbRtLeVI.mp4" Type="http://schemas.openxmlformats.org/officeDocument/2006/relationships/video"/><Relationship Id="rId4" Target="../media/VAGJbRtLeVI.mp4" Type="http://schemas.microsoft.com/office/2007/relationships/media"/><Relationship Id="rId5" Target="../media/image71.jpeg" Type="http://schemas.openxmlformats.org/officeDocument/2006/relationships/image"/><Relationship Id="rId6" Target="../media/VAGJbSjYXLI.mp4" Type="http://schemas.openxmlformats.org/officeDocument/2006/relationships/video"/><Relationship Id="rId7" Target="../media/VAGJbSjYXLI.mp4" Type="http://schemas.microsoft.com/office/2007/relationships/media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402759" y="6802807"/>
            <a:ext cx="5402508" cy="5402508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0" cap="sq">
              <a:solidFill>
                <a:srgbClr val="F6F6F6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79"/>
                </a:lnSpc>
              </a:pPr>
            </a:p>
          </p:txBody>
        </p:sp>
      </p:grpSp>
      <p:sp>
        <p:nvSpPr>
          <p:cNvPr name="AutoShape 5" id="5"/>
          <p:cNvSpPr/>
          <p:nvPr/>
        </p:nvSpPr>
        <p:spPr>
          <a:xfrm>
            <a:off x="1074658" y="8563446"/>
            <a:ext cx="16138684" cy="0"/>
          </a:xfrm>
          <a:prstGeom prst="line">
            <a:avLst/>
          </a:prstGeom>
          <a:ln cap="flat" w="38100">
            <a:solidFill>
              <a:srgbClr val="F47C32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" id="6"/>
          <p:cNvGrpSpPr/>
          <p:nvPr/>
        </p:nvGrpSpPr>
        <p:grpSpPr>
          <a:xfrm rot="0">
            <a:off x="10785978" y="1231643"/>
            <a:ext cx="4758515" cy="4758515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AE4D2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7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074658" y="5553371"/>
            <a:ext cx="447675" cy="447675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47C32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79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729607" y="656036"/>
            <a:ext cx="1585452" cy="1585452"/>
          </a:xfrm>
          <a:custGeom>
            <a:avLst/>
            <a:gdLst/>
            <a:ahLst/>
            <a:cxnLst/>
            <a:rect r="r" b="b" t="t" l="l"/>
            <a:pathLst>
              <a:path h="1585452" w="1585452">
                <a:moveTo>
                  <a:pt x="0" y="0"/>
                </a:moveTo>
                <a:lnTo>
                  <a:pt x="1585452" y="0"/>
                </a:lnTo>
                <a:lnTo>
                  <a:pt x="1585452" y="1585453"/>
                </a:lnTo>
                <a:lnTo>
                  <a:pt x="0" y="158545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15972039" y="656036"/>
            <a:ext cx="1241303" cy="575606"/>
            <a:chOff x="0" y="0"/>
            <a:chExt cx="326928" cy="1516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326928" cy="151600"/>
            </a:xfrm>
            <a:custGeom>
              <a:avLst/>
              <a:gdLst/>
              <a:ahLst/>
              <a:cxnLst/>
              <a:rect r="r" b="b" t="t" l="l"/>
              <a:pathLst>
                <a:path h="151600" w="326928">
                  <a:moveTo>
                    <a:pt x="75800" y="0"/>
                  </a:moveTo>
                  <a:lnTo>
                    <a:pt x="251128" y="0"/>
                  </a:lnTo>
                  <a:cubicBezTo>
                    <a:pt x="292991" y="0"/>
                    <a:pt x="326928" y="33937"/>
                    <a:pt x="326928" y="75800"/>
                  </a:cubicBezTo>
                  <a:lnTo>
                    <a:pt x="326928" y="75800"/>
                  </a:lnTo>
                  <a:cubicBezTo>
                    <a:pt x="326928" y="117663"/>
                    <a:pt x="292991" y="151600"/>
                    <a:pt x="251128" y="151600"/>
                  </a:cubicBezTo>
                  <a:lnTo>
                    <a:pt x="75800" y="151600"/>
                  </a:lnTo>
                  <a:cubicBezTo>
                    <a:pt x="33937" y="151600"/>
                    <a:pt x="0" y="117663"/>
                    <a:pt x="0" y="75800"/>
                  </a:cubicBezTo>
                  <a:lnTo>
                    <a:pt x="0" y="75800"/>
                  </a:lnTo>
                  <a:cubicBezTo>
                    <a:pt x="0" y="33937"/>
                    <a:pt x="33937" y="0"/>
                    <a:pt x="75800" y="0"/>
                  </a:cubicBezTo>
                  <a:close/>
                </a:path>
              </a:pathLst>
            </a:custGeom>
            <a:solidFill>
              <a:srgbClr val="F47C32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47625"/>
              <a:ext cx="326928" cy="199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79"/>
                </a:lnSpc>
              </a:pP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16275918" y="793769"/>
            <a:ext cx="633545" cy="300142"/>
          </a:xfrm>
          <a:custGeom>
            <a:avLst/>
            <a:gdLst/>
            <a:ahLst/>
            <a:cxnLst/>
            <a:rect r="r" b="b" t="t" l="l"/>
            <a:pathLst>
              <a:path h="300142" w="633545">
                <a:moveTo>
                  <a:pt x="0" y="0"/>
                </a:moveTo>
                <a:lnTo>
                  <a:pt x="633545" y="0"/>
                </a:lnTo>
                <a:lnTo>
                  <a:pt x="633545" y="300141"/>
                </a:lnTo>
                <a:lnTo>
                  <a:pt x="0" y="30014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981075" y="2884046"/>
            <a:ext cx="14166687" cy="2670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873"/>
              </a:lnSpc>
            </a:pPr>
            <a:r>
              <a:rPr lang="en-US" sz="15624">
                <a:solidFill>
                  <a:srgbClr val="F47C32"/>
                </a:solidFill>
                <a:latin typeface="Inter Bold"/>
              </a:rPr>
              <a:t>R </a:t>
            </a:r>
            <a:r>
              <a:rPr lang="en-US" sz="15624">
                <a:solidFill>
                  <a:srgbClr val="D6CDB3"/>
                </a:solidFill>
                <a:latin typeface="Inter Bold"/>
              </a:rPr>
              <a:t>U</a:t>
            </a:r>
            <a:r>
              <a:rPr lang="en-US" sz="15624">
                <a:solidFill>
                  <a:srgbClr val="F47C32"/>
                </a:solidFill>
                <a:latin typeface="Inter Bold"/>
              </a:rPr>
              <a:t> OK?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3739565" y="8862553"/>
            <a:ext cx="3473777" cy="3682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099"/>
              </a:lnSpc>
            </a:pPr>
            <a:r>
              <a:rPr lang="en-US" sz="1999">
                <a:solidFill>
                  <a:srgbClr val="000000"/>
                </a:solidFill>
                <a:ea typeface="Open Sans Bold"/>
              </a:rPr>
              <a:t>이경화  손효림  한아림  한별하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690843" y="5507968"/>
            <a:ext cx="8871234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19"/>
              </a:lnSpc>
            </a:pPr>
            <a:r>
              <a:rPr lang="en-US" sz="2799" spc="207">
                <a:solidFill>
                  <a:srgbClr val="000000"/>
                </a:solidFill>
                <a:latin typeface="Open Sans Semi-Bold"/>
                <a:ea typeface="Open Sans Semi-Bold"/>
              </a:rPr>
              <a:t>노숙인 아웃리치를 위한 실시간 지원 &amp; 관리 서비스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12981480" y="-1963295"/>
            <a:ext cx="6588876" cy="6588876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76200" cap="sq">
              <a:solidFill>
                <a:srgbClr val="EAE4D2"/>
              </a:solidFill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79"/>
                </a:lnSpc>
              </a:pP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37101" y="4421381"/>
            <a:ext cx="5402508" cy="5402508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0" cap="sq">
              <a:solidFill>
                <a:srgbClr val="F6F6F6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7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1979517" y="0"/>
            <a:ext cx="6308483" cy="10287000"/>
            <a:chOff x="0" y="0"/>
            <a:chExt cx="1661493" cy="270933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661494" cy="2709333"/>
            </a:xfrm>
            <a:custGeom>
              <a:avLst/>
              <a:gdLst/>
              <a:ahLst/>
              <a:cxnLst/>
              <a:rect r="r" b="b" t="t" l="l"/>
              <a:pathLst>
                <a:path h="2709333" w="1661494">
                  <a:moveTo>
                    <a:pt x="0" y="0"/>
                  </a:moveTo>
                  <a:lnTo>
                    <a:pt x="1661494" y="0"/>
                  </a:lnTo>
                  <a:lnTo>
                    <a:pt x="1661494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47C32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1661493" cy="2756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7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4598501" y="4663928"/>
            <a:ext cx="2660799" cy="2660799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AE4D2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7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844489" y="5603238"/>
            <a:ext cx="1060185" cy="1078465"/>
            <a:chOff x="0" y="0"/>
            <a:chExt cx="812800" cy="82681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26814"/>
            </a:xfrm>
            <a:custGeom>
              <a:avLst/>
              <a:gdLst/>
              <a:ahLst/>
              <a:cxnLst/>
              <a:rect r="r" b="b" t="t" l="l"/>
              <a:pathLst>
                <a:path h="826814" w="812800">
                  <a:moveTo>
                    <a:pt x="406400" y="0"/>
                  </a:moveTo>
                  <a:cubicBezTo>
                    <a:pt x="181951" y="0"/>
                    <a:pt x="0" y="185089"/>
                    <a:pt x="0" y="413407"/>
                  </a:cubicBezTo>
                  <a:cubicBezTo>
                    <a:pt x="0" y="641726"/>
                    <a:pt x="181951" y="826814"/>
                    <a:pt x="406400" y="826814"/>
                  </a:cubicBezTo>
                  <a:cubicBezTo>
                    <a:pt x="630849" y="826814"/>
                    <a:pt x="812800" y="641726"/>
                    <a:pt x="812800" y="413407"/>
                  </a:cubicBezTo>
                  <a:cubicBezTo>
                    <a:pt x="812800" y="185089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AE4D2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10839"/>
              <a:ext cx="660400" cy="738462"/>
            </a:xfrm>
            <a:prstGeom prst="rect">
              <a:avLst/>
            </a:prstGeom>
          </p:spPr>
          <p:txBody>
            <a:bodyPr anchor="ctr" rtlCol="false" tIns="44470" lIns="44470" bIns="44470" rIns="44470"/>
            <a:lstStyle/>
            <a:p>
              <a:pPr algn="ctr">
                <a:lnSpc>
                  <a:spcPts val="4759"/>
                </a:lnSpc>
              </a:pPr>
              <a:r>
                <a:rPr lang="en-US" sz="3399">
                  <a:solidFill>
                    <a:srgbClr val="F47C32"/>
                  </a:solidFill>
                  <a:latin typeface="Inter Bold"/>
                </a:rPr>
                <a:t>01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844489" y="7967751"/>
            <a:ext cx="1060185" cy="1078465"/>
            <a:chOff x="0" y="0"/>
            <a:chExt cx="812800" cy="82681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26814"/>
            </a:xfrm>
            <a:custGeom>
              <a:avLst/>
              <a:gdLst/>
              <a:ahLst/>
              <a:cxnLst/>
              <a:rect r="r" b="b" t="t" l="l"/>
              <a:pathLst>
                <a:path h="826814" w="812800">
                  <a:moveTo>
                    <a:pt x="406400" y="0"/>
                  </a:moveTo>
                  <a:cubicBezTo>
                    <a:pt x="181951" y="0"/>
                    <a:pt x="0" y="185089"/>
                    <a:pt x="0" y="413407"/>
                  </a:cubicBezTo>
                  <a:cubicBezTo>
                    <a:pt x="0" y="641726"/>
                    <a:pt x="181951" y="826814"/>
                    <a:pt x="406400" y="826814"/>
                  </a:cubicBezTo>
                  <a:cubicBezTo>
                    <a:pt x="630849" y="826814"/>
                    <a:pt x="812800" y="641726"/>
                    <a:pt x="812800" y="413407"/>
                  </a:cubicBezTo>
                  <a:cubicBezTo>
                    <a:pt x="812800" y="185089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AE4D2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76200" y="10839"/>
              <a:ext cx="660400" cy="738462"/>
            </a:xfrm>
            <a:prstGeom prst="rect">
              <a:avLst/>
            </a:prstGeom>
          </p:spPr>
          <p:txBody>
            <a:bodyPr anchor="ctr" rtlCol="false" tIns="44470" lIns="44470" bIns="44470" rIns="44470"/>
            <a:lstStyle/>
            <a:p>
              <a:pPr algn="ctr">
                <a:lnSpc>
                  <a:spcPts val="4759"/>
                </a:lnSpc>
              </a:pPr>
              <a:r>
                <a:rPr lang="en-US" sz="3399">
                  <a:solidFill>
                    <a:srgbClr val="F47C32"/>
                  </a:solidFill>
                  <a:latin typeface="Inter Bold"/>
                </a:rPr>
                <a:t>02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6664941" y="5603238"/>
            <a:ext cx="1060185" cy="1078398"/>
            <a:chOff x="0" y="0"/>
            <a:chExt cx="812800" cy="826763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26763"/>
            </a:xfrm>
            <a:custGeom>
              <a:avLst/>
              <a:gdLst/>
              <a:ahLst/>
              <a:cxnLst/>
              <a:rect r="r" b="b" t="t" l="l"/>
              <a:pathLst>
                <a:path h="826763" w="812800">
                  <a:moveTo>
                    <a:pt x="406400" y="0"/>
                  </a:moveTo>
                  <a:cubicBezTo>
                    <a:pt x="181951" y="0"/>
                    <a:pt x="0" y="185077"/>
                    <a:pt x="0" y="413382"/>
                  </a:cubicBezTo>
                  <a:cubicBezTo>
                    <a:pt x="0" y="641686"/>
                    <a:pt x="181951" y="826763"/>
                    <a:pt x="406400" y="826763"/>
                  </a:cubicBezTo>
                  <a:cubicBezTo>
                    <a:pt x="630849" y="826763"/>
                    <a:pt x="812800" y="641686"/>
                    <a:pt x="812800" y="413382"/>
                  </a:cubicBezTo>
                  <a:cubicBezTo>
                    <a:pt x="812800" y="185077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AE4D2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76200" y="10834"/>
              <a:ext cx="660400" cy="738420"/>
            </a:xfrm>
            <a:prstGeom prst="rect">
              <a:avLst/>
            </a:prstGeom>
          </p:spPr>
          <p:txBody>
            <a:bodyPr anchor="ctr" rtlCol="false" tIns="44470" lIns="44470" bIns="44470" rIns="44470"/>
            <a:lstStyle/>
            <a:p>
              <a:pPr algn="ctr">
                <a:lnSpc>
                  <a:spcPts val="4759"/>
                </a:lnSpc>
              </a:pPr>
              <a:r>
                <a:rPr lang="en-US" sz="3399">
                  <a:solidFill>
                    <a:srgbClr val="F47C32"/>
                  </a:solidFill>
                  <a:latin typeface="Inter Bold"/>
                </a:rPr>
                <a:t>03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6664941" y="7967751"/>
            <a:ext cx="1060185" cy="1078398"/>
            <a:chOff x="0" y="0"/>
            <a:chExt cx="812800" cy="826763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26763"/>
            </a:xfrm>
            <a:custGeom>
              <a:avLst/>
              <a:gdLst/>
              <a:ahLst/>
              <a:cxnLst/>
              <a:rect r="r" b="b" t="t" l="l"/>
              <a:pathLst>
                <a:path h="826763" w="812800">
                  <a:moveTo>
                    <a:pt x="406400" y="0"/>
                  </a:moveTo>
                  <a:cubicBezTo>
                    <a:pt x="181951" y="0"/>
                    <a:pt x="0" y="185077"/>
                    <a:pt x="0" y="413382"/>
                  </a:cubicBezTo>
                  <a:cubicBezTo>
                    <a:pt x="0" y="641686"/>
                    <a:pt x="181951" y="826763"/>
                    <a:pt x="406400" y="826763"/>
                  </a:cubicBezTo>
                  <a:cubicBezTo>
                    <a:pt x="630849" y="826763"/>
                    <a:pt x="812800" y="641686"/>
                    <a:pt x="812800" y="413382"/>
                  </a:cubicBezTo>
                  <a:cubicBezTo>
                    <a:pt x="812800" y="185077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AE4D2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76200" y="10834"/>
              <a:ext cx="660400" cy="738420"/>
            </a:xfrm>
            <a:prstGeom prst="rect">
              <a:avLst/>
            </a:prstGeom>
          </p:spPr>
          <p:txBody>
            <a:bodyPr anchor="ctr" rtlCol="false" tIns="44470" lIns="44470" bIns="44470" rIns="44470"/>
            <a:lstStyle/>
            <a:p>
              <a:pPr algn="ctr">
                <a:lnSpc>
                  <a:spcPts val="4759"/>
                </a:lnSpc>
              </a:pPr>
              <a:r>
                <a:rPr lang="en-US" sz="3399">
                  <a:solidFill>
                    <a:srgbClr val="F47C32"/>
                  </a:solidFill>
                  <a:latin typeface="Inter Bold"/>
                </a:rPr>
                <a:t>04</a:t>
              </a:r>
            </a:p>
          </p:txBody>
        </p:sp>
      </p:grpSp>
      <p:sp>
        <p:nvSpPr>
          <p:cNvPr name="AutoShape 23" id="23"/>
          <p:cNvSpPr/>
          <p:nvPr/>
        </p:nvSpPr>
        <p:spPr>
          <a:xfrm>
            <a:off x="844489" y="2984652"/>
            <a:ext cx="6008511" cy="0"/>
          </a:xfrm>
          <a:prstGeom prst="line">
            <a:avLst/>
          </a:prstGeom>
          <a:ln cap="flat" w="76200">
            <a:solidFill>
              <a:srgbClr val="EAE4D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4" id="24"/>
          <p:cNvSpPr txBox="true"/>
          <p:nvPr/>
        </p:nvSpPr>
        <p:spPr>
          <a:xfrm rot="0">
            <a:off x="844489" y="826748"/>
            <a:ext cx="7158103" cy="1937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60"/>
              </a:lnSpc>
            </a:pPr>
            <a:r>
              <a:rPr lang="en-US" sz="7200">
                <a:solidFill>
                  <a:srgbClr val="F47C32"/>
                </a:solidFill>
                <a:latin typeface="Inter Bold"/>
              </a:rPr>
              <a:t>TABLE OF CONTENT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2186994" y="5871314"/>
            <a:ext cx="3953022" cy="4668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27"/>
              </a:lnSpc>
            </a:pPr>
            <a:r>
              <a:rPr lang="en-US" sz="2734">
                <a:solidFill>
                  <a:srgbClr val="000000"/>
                </a:solidFill>
                <a:ea typeface="Inter Bold"/>
              </a:rPr>
              <a:t>프로젝트 진행 배경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2186994" y="8235827"/>
            <a:ext cx="3953022" cy="4668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27"/>
              </a:lnSpc>
            </a:pPr>
            <a:r>
              <a:rPr lang="en-US" sz="2734">
                <a:solidFill>
                  <a:srgbClr val="000000"/>
                </a:solidFill>
                <a:latin typeface="Inter Bold"/>
                <a:ea typeface="Inter Bold"/>
              </a:rPr>
              <a:t>프로젝트 추진전략 &amp; 방법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8007445" y="5871314"/>
            <a:ext cx="3953022" cy="4668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27"/>
              </a:lnSpc>
            </a:pPr>
            <a:r>
              <a:rPr lang="en-US" sz="2734">
                <a:solidFill>
                  <a:srgbClr val="000000"/>
                </a:solidFill>
                <a:ea typeface="Inter Bold"/>
              </a:rPr>
              <a:t>프로젝트 개괄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8007445" y="8235827"/>
            <a:ext cx="3953022" cy="4668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27"/>
              </a:lnSpc>
            </a:pPr>
            <a:r>
              <a:rPr lang="en-US" sz="2734">
                <a:solidFill>
                  <a:srgbClr val="000000"/>
                </a:solidFill>
                <a:ea typeface="Inter Bold"/>
              </a:rPr>
              <a:t>프로젝트 상세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863539" y="3290931"/>
            <a:ext cx="6818840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</a:pPr>
            <a:r>
              <a:rPr lang="en-US" sz="2400" spc="177">
                <a:solidFill>
                  <a:srgbClr val="000000"/>
                </a:solidFill>
                <a:ea typeface="Open Sans Semi-Bold"/>
              </a:rPr>
              <a:t>목   차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14539609" y="6833174"/>
            <a:ext cx="5402542" cy="5402542"/>
            <a:chOff x="0" y="0"/>
            <a:chExt cx="812800" cy="8128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6F6F6"/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79"/>
                </a:lnSpc>
              </a:pP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028700" y="2131935"/>
            <a:ext cx="10413968" cy="0"/>
          </a:xfrm>
          <a:prstGeom prst="line">
            <a:avLst/>
          </a:prstGeom>
          <a:ln cap="flat" w="66675">
            <a:solidFill>
              <a:srgbClr val="EAE4D2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1028700" y="3283677"/>
            <a:ext cx="877649" cy="877649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47C32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44470" lIns="44470" bIns="44470" rIns="44470"/>
            <a:lstStyle/>
            <a:p>
              <a:pPr algn="ctr">
                <a:lnSpc>
                  <a:spcPts val="4199"/>
                </a:lnSpc>
              </a:pPr>
              <a:r>
                <a:rPr lang="en-US" sz="2999">
                  <a:solidFill>
                    <a:srgbClr val="FFFFFF"/>
                  </a:solidFill>
                  <a:latin typeface="Inter Bold"/>
                </a:rPr>
                <a:t>A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4115129" y="491889"/>
            <a:ext cx="3007762" cy="3007762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AE4D2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7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5502862" y="-1527567"/>
            <a:ext cx="4164696" cy="4164696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76200" cap="sq">
              <a:solidFill>
                <a:srgbClr val="EAE4D2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79"/>
                </a:lnSpc>
              </a:pPr>
            </a:p>
          </p:txBody>
        </p:sp>
      </p:grpSp>
      <p:pic>
        <p:nvPicPr>
          <p:cNvPr name="Picture 12" id="12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587150" y="6479839"/>
            <a:ext cx="2521439" cy="2521439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5589613" y="6479839"/>
            <a:ext cx="2521439" cy="2521439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0657597" y="5051904"/>
            <a:ext cx="1663438" cy="1663438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2475046" y="5051904"/>
            <a:ext cx="1663438" cy="1663438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0657597" y="7340889"/>
            <a:ext cx="1663438" cy="1663438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2475046" y="7340889"/>
            <a:ext cx="1663438" cy="1663438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4811571" y="5689165"/>
            <a:ext cx="2521439" cy="2521439"/>
          </a:xfrm>
          <a:prstGeom prst="rect">
            <a:avLst/>
          </a:prstGeom>
        </p:spPr>
      </p:pic>
      <p:grpSp>
        <p:nvGrpSpPr>
          <p:cNvPr name="Group 19" id="19"/>
          <p:cNvGrpSpPr/>
          <p:nvPr/>
        </p:nvGrpSpPr>
        <p:grpSpPr>
          <a:xfrm rot="0">
            <a:off x="16464662" y="5356984"/>
            <a:ext cx="744922" cy="902931"/>
            <a:chOff x="0" y="0"/>
            <a:chExt cx="812800" cy="985206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985206"/>
            </a:xfrm>
            <a:custGeom>
              <a:avLst/>
              <a:gdLst/>
              <a:ahLst/>
              <a:cxnLst/>
              <a:rect r="r" b="b" t="t" l="l"/>
              <a:pathLst>
                <a:path h="985206" w="812800">
                  <a:moveTo>
                    <a:pt x="406400" y="0"/>
                  </a:moveTo>
                  <a:lnTo>
                    <a:pt x="0" y="406400"/>
                  </a:lnTo>
                  <a:lnTo>
                    <a:pt x="203200" y="406400"/>
                  </a:lnTo>
                  <a:lnTo>
                    <a:pt x="203200" y="985206"/>
                  </a:lnTo>
                  <a:lnTo>
                    <a:pt x="609600" y="985206"/>
                  </a:lnTo>
                  <a:lnTo>
                    <a:pt x="609600" y="406400"/>
                  </a:lnTo>
                  <a:lnTo>
                    <a:pt x="81280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47C00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203200" y="53975"/>
              <a:ext cx="406400" cy="9312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79"/>
                </a:lnSpc>
              </a:pPr>
            </a:p>
          </p:txBody>
        </p:sp>
      </p:grpSp>
      <p:sp>
        <p:nvSpPr>
          <p:cNvPr name="Freeform 22" id="22"/>
          <p:cNvSpPr/>
          <p:nvPr/>
        </p:nvSpPr>
        <p:spPr>
          <a:xfrm flipH="false" flipV="false" rot="0">
            <a:off x="16807951" y="6143597"/>
            <a:ext cx="211308" cy="358159"/>
          </a:xfrm>
          <a:custGeom>
            <a:avLst/>
            <a:gdLst/>
            <a:ahLst/>
            <a:cxnLst/>
            <a:rect r="r" b="b" t="t" l="l"/>
            <a:pathLst>
              <a:path h="358159" w="211308">
                <a:moveTo>
                  <a:pt x="0" y="0"/>
                </a:moveTo>
                <a:lnTo>
                  <a:pt x="211308" y="0"/>
                </a:lnTo>
                <a:lnTo>
                  <a:pt x="211308" y="358159"/>
                </a:lnTo>
                <a:lnTo>
                  <a:pt x="0" y="35815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-43549" t="0" r="-64328" b="-12076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1028700" y="1081292"/>
            <a:ext cx="6872233" cy="915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10"/>
              </a:lnSpc>
            </a:pPr>
            <a:r>
              <a:rPr lang="en-US" sz="6676">
                <a:solidFill>
                  <a:srgbClr val="F47C32"/>
                </a:solidFill>
                <a:ea typeface="Inter Bold"/>
              </a:rPr>
              <a:t>프로젝트 진행 배경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2114445" y="3479399"/>
            <a:ext cx="3656595" cy="455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699">
                <a:solidFill>
                  <a:srgbClr val="000000"/>
                </a:solidFill>
                <a:ea typeface="Inter Bold"/>
              </a:rPr>
              <a:t>거리 노숙인 현황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2005366" y="4391894"/>
            <a:ext cx="6092552" cy="15073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96571" indent="-248285" lvl="1">
              <a:lnSpc>
                <a:spcPts val="3565"/>
              </a:lnSpc>
              <a:buFont typeface="Arial"/>
              <a:buChar char="•"/>
            </a:pPr>
            <a:r>
              <a:rPr lang="en-US" sz="2300">
                <a:solidFill>
                  <a:srgbClr val="F47C00"/>
                </a:solidFill>
                <a:latin typeface="Open Sans Bold"/>
                <a:ea typeface="Open Sans Bold"/>
              </a:rPr>
              <a:t>법적 정의:</a:t>
            </a:r>
            <a:r>
              <a:rPr lang="en-US" sz="2300">
                <a:solidFill>
                  <a:srgbClr val="000000"/>
                </a:solidFill>
                <a:latin typeface="Open Sans Bold"/>
                <a:ea typeface="Open Sans Bold"/>
              </a:rPr>
              <a:t> 상당 기간 주거 없이 생활하는 사람</a:t>
            </a:r>
          </a:p>
          <a:p>
            <a:pPr algn="just">
              <a:lnSpc>
                <a:spcPts val="1550"/>
              </a:lnSpc>
            </a:pPr>
          </a:p>
          <a:p>
            <a:pPr algn="just" marL="496571" indent="-248285" lvl="1">
              <a:lnSpc>
                <a:spcPts val="3565"/>
              </a:lnSpc>
              <a:buFont typeface="Arial"/>
              <a:buChar char="•"/>
            </a:pPr>
            <a:r>
              <a:rPr lang="en-US" sz="2300">
                <a:solidFill>
                  <a:srgbClr val="000000"/>
                </a:solidFill>
                <a:latin typeface="Open Sans Bold"/>
                <a:ea typeface="Open Sans Bold"/>
              </a:rPr>
              <a:t>2021년 전국 거리 노숙인 수: </a:t>
            </a:r>
            <a:r>
              <a:rPr lang="en-US" sz="2300">
                <a:solidFill>
                  <a:srgbClr val="F47C00"/>
                </a:solidFill>
                <a:latin typeface="Open Sans Bold"/>
                <a:ea typeface="Open Sans Bold"/>
              </a:rPr>
              <a:t>1,595명</a:t>
            </a:r>
          </a:p>
          <a:p>
            <a:pPr algn="just" marL="496571" indent="-248285" lvl="1">
              <a:lnSpc>
                <a:spcPts val="3565"/>
              </a:lnSpc>
              <a:buFont typeface="Arial"/>
              <a:buChar char="•"/>
            </a:pPr>
            <a:r>
              <a:rPr lang="en-US" sz="2300">
                <a:solidFill>
                  <a:srgbClr val="000000"/>
                </a:solidFill>
                <a:latin typeface="Open Sans Bold"/>
                <a:ea typeface="Open Sans Bold"/>
              </a:rPr>
              <a:t>평균 노숙 기간 : </a:t>
            </a:r>
            <a:r>
              <a:rPr lang="en-US" sz="2300">
                <a:solidFill>
                  <a:srgbClr val="F47C00"/>
                </a:solidFill>
                <a:latin typeface="Open Sans Bold"/>
                <a:ea typeface="Open Sans Bold"/>
              </a:rPr>
              <a:t>122.8개월</a:t>
            </a:r>
            <a:r>
              <a:rPr lang="en-US" sz="2300">
                <a:solidFill>
                  <a:srgbClr val="000000"/>
                </a:solidFill>
                <a:latin typeface="Open Sans Bold"/>
                <a:ea typeface="Open Sans Bold"/>
              </a:rPr>
              <a:t> (10년 이상)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865161" y="8991600"/>
            <a:ext cx="1965417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98"/>
              </a:lnSpc>
            </a:pPr>
            <a:r>
              <a:rPr lang="en-US" sz="1831" spc="91">
                <a:solidFill>
                  <a:srgbClr val="000000"/>
                </a:solidFill>
                <a:latin typeface="Canva Sans Bold"/>
                <a:ea typeface="Canva Sans Bold"/>
              </a:rPr>
              <a:t>거리 노숙 5년 이상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5853339" y="8991600"/>
            <a:ext cx="1993988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98"/>
              </a:lnSpc>
            </a:pPr>
            <a:r>
              <a:rPr lang="en-US" sz="1831" spc="91">
                <a:solidFill>
                  <a:srgbClr val="000000"/>
                </a:solidFill>
                <a:latin typeface="Canva Sans Bold"/>
                <a:ea typeface="Canva Sans Bold"/>
              </a:rPr>
              <a:t>거리/광장에서 생활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0299818" y="4391894"/>
            <a:ext cx="4721873" cy="4216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96571" indent="-248285" lvl="1">
              <a:lnSpc>
                <a:spcPts val="3565"/>
              </a:lnSpc>
              <a:buFont typeface="Arial"/>
              <a:buChar char="•"/>
            </a:pPr>
            <a:r>
              <a:rPr lang="en-US" sz="2300">
                <a:solidFill>
                  <a:srgbClr val="000000"/>
                </a:solidFill>
                <a:ea typeface="Open Sans Bold"/>
              </a:rPr>
              <a:t>높은 유병률</a:t>
            </a:r>
            <a:r>
              <a:rPr lang="en-US" sz="2300">
                <a:solidFill>
                  <a:srgbClr val="F47C00"/>
                </a:solidFill>
                <a:latin typeface="Open Sans Bold"/>
              </a:rPr>
              <a:t> + </a:t>
            </a:r>
            <a:r>
              <a:rPr lang="en-US" sz="2300">
                <a:solidFill>
                  <a:srgbClr val="000000"/>
                </a:solidFill>
                <a:ea typeface="Open Sans Bold"/>
              </a:rPr>
              <a:t>낮은 병원 방문률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0885794" y="6712189"/>
            <a:ext cx="1207042" cy="257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70"/>
              </a:lnSpc>
            </a:pPr>
            <a:r>
              <a:rPr lang="en-US" sz="1808" spc="90">
                <a:solidFill>
                  <a:srgbClr val="000000"/>
                </a:solidFill>
                <a:ea typeface="Canva Sans Bold"/>
              </a:rPr>
              <a:t>정신질환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2684395" y="6712189"/>
            <a:ext cx="1207042" cy="257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70"/>
              </a:lnSpc>
            </a:pPr>
            <a:r>
              <a:rPr lang="en-US" sz="1808" spc="90">
                <a:solidFill>
                  <a:srgbClr val="000000"/>
                </a:solidFill>
                <a:ea typeface="Canva Sans Bold"/>
              </a:rPr>
              <a:t>대사성 질환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0885794" y="9001175"/>
            <a:ext cx="1207042" cy="257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70"/>
              </a:lnSpc>
            </a:pPr>
            <a:r>
              <a:rPr lang="en-US" sz="1808" spc="90">
                <a:solidFill>
                  <a:srgbClr val="000000"/>
                </a:solidFill>
                <a:ea typeface="Canva Sans Bold"/>
              </a:rPr>
              <a:t>관절 질환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2684395" y="9001175"/>
            <a:ext cx="1207042" cy="257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70"/>
              </a:lnSpc>
            </a:pPr>
            <a:r>
              <a:rPr lang="en-US" sz="1808" spc="90">
                <a:solidFill>
                  <a:srgbClr val="000000"/>
                </a:solidFill>
                <a:ea typeface="Canva Sans Bold"/>
              </a:rPr>
              <a:t>기타 질환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5157473" y="8467375"/>
            <a:ext cx="1965417" cy="3237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58"/>
              </a:lnSpc>
            </a:pPr>
            <a:r>
              <a:rPr lang="en-US" sz="2131" spc="106">
                <a:solidFill>
                  <a:srgbClr val="000000"/>
                </a:solidFill>
                <a:ea typeface="Canva Sans Bold"/>
              </a:rPr>
              <a:t>병원 미방문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6392370" y="4888363"/>
            <a:ext cx="889508" cy="3237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58"/>
              </a:lnSpc>
            </a:pPr>
            <a:r>
              <a:rPr lang="en-US" sz="2131" spc="106">
                <a:solidFill>
                  <a:srgbClr val="000000"/>
                </a:solidFill>
                <a:latin typeface="Canva Sans Bold"/>
              </a:rPr>
              <a:t>6.5%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7282531" y="1500810"/>
            <a:ext cx="4160137" cy="3816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115"/>
              </a:lnSpc>
            </a:pPr>
            <a:r>
              <a:rPr lang="en-US" sz="2225" spc="164">
                <a:solidFill>
                  <a:srgbClr val="000000"/>
                </a:solidFill>
                <a:latin typeface="Open Sans Bold"/>
                <a:ea typeface="Open Sans Bold"/>
              </a:rPr>
              <a:t>아이디어 &amp; 개발물 필요성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2834259" y="519664"/>
            <a:ext cx="4750951" cy="290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79"/>
              </a:lnSpc>
              <a:spcBef>
                <a:spcPct val="0"/>
              </a:spcBef>
            </a:pPr>
            <a:r>
              <a:rPr lang="en-US" sz="1599">
                <a:solidFill>
                  <a:srgbClr val="545454"/>
                </a:solidFill>
                <a:latin typeface="Open Sans Bold"/>
                <a:ea typeface="Open Sans Bold"/>
              </a:rPr>
              <a:t>보건복지부, 2021년 노숙인 등의 실태조사, 2022.04.07.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028700" y="2131935"/>
            <a:ext cx="10413968" cy="0"/>
          </a:xfrm>
          <a:prstGeom prst="line">
            <a:avLst/>
          </a:prstGeom>
          <a:ln cap="flat" w="66675">
            <a:solidFill>
              <a:srgbClr val="EAE4D2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1028700" y="3283677"/>
            <a:ext cx="877649" cy="877649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47C32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44470" lIns="44470" bIns="44470" rIns="44470"/>
            <a:lstStyle/>
            <a:p>
              <a:pPr algn="ctr">
                <a:lnSpc>
                  <a:spcPts val="4199"/>
                </a:lnSpc>
              </a:pPr>
              <a:r>
                <a:rPr lang="en-US" sz="2999">
                  <a:solidFill>
                    <a:srgbClr val="FFFFFF"/>
                  </a:solidFill>
                  <a:latin typeface="Inter Bold"/>
                </a:rPr>
                <a:t>B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4115129" y="491889"/>
            <a:ext cx="3007762" cy="3007762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AE4D2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7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5502862" y="-1527567"/>
            <a:ext cx="4164696" cy="4164696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76200" cap="sq">
              <a:solidFill>
                <a:srgbClr val="EAE4D2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79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028700" y="1081292"/>
            <a:ext cx="6872233" cy="915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10"/>
              </a:lnSpc>
            </a:pPr>
            <a:r>
              <a:rPr lang="en-US" sz="6676">
                <a:solidFill>
                  <a:srgbClr val="F47C32"/>
                </a:solidFill>
                <a:ea typeface="Inter Bold"/>
              </a:rPr>
              <a:t>프로젝트 진행 배경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114445" y="3479399"/>
            <a:ext cx="3656595" cy="455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699">
                <a:solidFill>
                  <a:srgbClr val="000000"/>
                </a:solidFill>
                <a:ea typeface="Inter Bold"/>
              </a:rPr>
              <a:t>사회복지사 업무 현황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005366" y="4391894"/>
            <a:ext cx="7275277" cy="1059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96571" indent="-248285" lvl="1">
              <a:lnSpc>
                <a:spcPts val="3565"/>
              </a:lnSpc>
              <a:buFont typeface="Arial"/>
              <a:buChar char="•"/>
            </a:pPr>
            <a:r>
              <a:rPr lang="en-US" sz="2300">
                <a:solidFill>
                  <a:srgbClr val="F47C32"/>
                </a:solidFill>
                <a:latin typeface="Open Sans Bold"/>
                <a:ea typeface="Open Sans Bold"/>
              </a:rPr>
              <a:t>아웃리치 주 업무 : </a:t>
            </a:r>
            <a:r>
              <a:rPr lang="en-US" sz="2300">
                <a:solidFill>
                  <a:srgbClr val="000000"/>
                </a:solidFill>
                <a:latin typeface="Open Sans Bold"/>
                <a:ea typeface="Open Sans Bold"/>
              </a:rPr>
              <a:t>노숙인 건강 상태 점검, 인원 파악</a:t>
            </a:r>
          </a:p>
          <a:p>
            <a:pPr algn="just">
              <a:lnSpc>
                <a:spcPts val="1550"/>
              </a:lnSpc>
            </a:pPr>
          </a:p>
          <a:p>
            <a:pPr algn="just" marL="496571" indent="-248285" lvl="1">
              <a:lnSpc>
                <a:spcPts val="3565"/>
              </a:lnSpc>
              <a:buFont typeface="Arial"/>
              <a:buChar char="•"/>
            </a:pPr>
            <a:r>
              <a:rPr lang="en-US" sz="2300">
                <a:solidFill>
                  <a:srgbClr val="000000"/>
                </a:solidFill>
                <a:latin typeface="Open Sans Bold"/>
                <a:ea typeface="Open Sans Bold"/>
              </a:rPr>
              <a:t>환경적 한계 : </a:t>
            </a:r>
            <a:r>
              <a:rPr lang="en-US" sz="2300">
                <a:solidFill>
                  <a:srgbClr val="F47C32"/>
                </a:solidFill>
                <a:ea typeface="Open Sans Bold"/>
              </a:rPr>
              <a:t>이동성 노숙인 위치 파악의 어려움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299818" y="4391894"/>
            <a:ext cx="5661232" cy="421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96571" indent="-248285" lvl="1">
              <a:lnSpc>
                <a:spcPts val="3565"/>
              </a:lnSpc>
              <a:buFont typeface="Arial"/>
              <a:buChar char="•"/>
            </a:pPr>
            <a:r>
              <a:rPr lang="en-US" sz="2300">
                <a:solidFill>
                  <a:srgbClr val="000000"/>
                </a:solidFill>
                <a:ea typeface="Open Sans Bold"/>
              </a:rPr>
              <a:t>현 아웃리치 업무에서 활용되는 시스템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282531" y="1500810"/>
            <a:ext cx="4160137" cy="3816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115"/>
              </a:lnSpc>
            </a:pPr>
            <a:r>
              <a:rPr lang="en-US" sz="2225" spc="164">
                <a:solidFill>
                  <a:srgbClr val="000000"/>
                </a:solidFill>
                <a:latin typeface="Open Sans Bold"/>
                <a:ea typeface="Open Sans Bold"/>
              </a:rPr>
              <a:t>아이디어 &amp; 개발물 필요성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10326381" y="6486855"/>
            <a:ext cx="888836" cy="888836"/>
          </a:xfrm>
          <a:custGeom>
            <a:avLst/>
            <a:gdLst/>
            <a:ahLst/>
            <a:cxnLst/>
            <a:rect r="r" b="b" t="t" l="l"/>
            <a:pathLst>
              <a:path h="888836" w="888836">
                <a:moveTo>
                  <a:pt x="0" y="0"/>
                </a:moveTo>
                <a:lnTo>
                  <a:pt x="888835" y="0"/>
                </a:lnTo>
                <a:lnTo>
                  <a:pt x="888835" y="888836"/>
                </a:lnTo>
                <a:lnTo>
                  <a:pt x="0" y="8888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8" id="18"/>
          <p:cNvGrpSpPr/>
          <p:nvPr/>
        </p:nvGrpSpPr>
        <p:grpSpPr>
          <a:xfrm rot="0">
            <a:off x="12315118" y="6110497"/>
            <a:ext cx="273839" cy="469128"/>
            <a:chOff x="0" y="0"/>
            <a:chExt cx="812800" cy="139245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12800" cy="1392450"/>
            </a:xfrm>
            <a:custGeom>
              <a:avLst/>
              <a:gdLst/>
              <a:ahLst/>
              <a:cxnLst/>
              <a:rect r="r" b="b" t="t" l="l"/>
              <a:pathLst>
                <a:path h="1392450" w="812800">
                  <a:moveTo>
                    <a:pt x="406400" y="1392450"/>
                  </a:moveTo>
                  <a:lnTo>
                    <a:pt x="0" y="986050"/>
                  </a:lnTo>
                  <a:lnTo>
                    <a:pt x="203200" y="9860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609600" y="986050"/>
                  </a:lnTo>
                  <a:lnTo>
                    <a:pt x="812800" y="986050"/>
                  </a:lnTo>
                  <a:lnTo>
                    <a:pt x="406400" y="1392450"/>
                  </a:lnTo>
                  <a:close/>
                </a:path>
              </a:pathLst>
            </a:custGeom>
            <a:solidFill>
              <a:srgbClr val="F47C00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203200" y="-47625"/>
              <a:ext cx="406400" cy="1338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79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2315118" y="7281256"/>
            <a:ext cx="273839" cy="469128"/>
            <a:chOff x="0" y="0"/>
            <a:chExt cx="812800" cy="139245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12800" cy="1392450"/>
            </a:xfrm>
            <a:custGeom>
              <a:avLst/>
              <a:gdLst/>
              <a:ahLst/>
              <a:cxnLst/>
              <a:rect r="r" b="b" t="t" l="l"/>
              <a:pathLst>
                <a:path h="1392450" w="812800">
                  <a:moveTo>
                    <a:pt x="406400" y="1392450"/>
                  </a:moveTo>
                  <a:lnTo>
                    <a:pt x="0" y="986050"/>
                  </a:lnTo>
                  <a:lnTo>
                    <a:pt x="203200" y="9860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609600" y="986050"/>
                  </a:lnTo>
                  <a:lnTo>
                    <a:pt x="812800" y="986050"/>
                  </a:lnTo>
                  <a:lnTo>
                    <a:pt x="406400" y="1392450"/>
                  </a:lnTo>
                  <a:close/>
                </a:path>
              </a:pathLst>
            </a:custGeom>
            <a:solidFill>
              <a:srgbClr val="F47C00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203200" y="-47625"/>
              <a:ext cx="406400" cy="1338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79"/>
                </a:lnSpc>
              </a:pP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11423312" y="5536252"/>
            <a:ext cx="2057450" cy="378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62"/>
              </a:lnSpc>
            </a:pPr>
            <a:r>
              <a:rPr lang="en-US" sz="2080">
                <a:solidFill>
                  <a:srgbClr val="000000"/>
                </a:solidFill>
                <a:ea typeface="DM Sans Bold"/>
              </a:rPr>
              <a:t>아웃리치 수행 전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1423312" y="6708675"/>
            <a:ext cx="2057450" cy="378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62"/>
              </a:lnSpc>
            </a:pPr>
            <a:r>
              <a:rPr lang="en-US" sz="2080">
                <a:solidFill>
                  <a:srgbClr val="000000"/>
                </a:solidFill>
                <a:ea typeface="DM Sans Bold"/>
              </a:rPr>
              <a:t>아웃리치 수행 중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1423312" y="7877770"/>
            <a:ext cx="2057450" cy="378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62"/>
              </a:lnSpc>
            </a:pPr>
            <a:r>
              <a:rPr lang="en-US" sz="2080">
                <a:solidFill>
                  <a:srgbClr val="000000"/>
                </a:solidFill>
                <a:ea typeface="DM Sans Bold"/>
              </a:rPr>
              <a:t>아웃리치 수행 후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3911960" y="5536252"/>
            <a:ext cx="3347340" cy="3821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62"/>
              </a:lnSpc>
            </a:pPr>
            <a:r>
              <a:rPr lang="en-US" sz="2080">
                <a:solidFill>
                  <a:srgbClr val="545454"/>
                </a:solidFill>
                <a:latin typeface="DM Sans Bold"/>
                <a:ea typeface="DM Sans Bold"/>
              </a:rPr>
              <a:t>수기 &amp; 전자 메모장, 인트라넷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3911960" y="7877770"/>
            <a:ext cx="3347340" cy="3821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62"/>
              </a:lnSpc>
            </a:pPr>
            <a:r>
              <a:rPr lang="en-US" sz="2080">
                <a:solidFill>
                  <a:srgbClr val="545454"/>
                </a:solidFill>
                <a:latin typeface="DM Sans Bold"/>
                <a:ea typeface="DM Sans Bold"/>
              </a:rPr>
              <a:t>수기 &amp; 전자 메모장, 인트라넷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3911960" y="6708675"/>
            <a:ext cx="3347340" cy="3821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62"/>
              </a:lnSpc>
            </a:pPr>
            <a:r>
              <a:rPr lang="en-US" sz="2080">
                <a:solidFill>
                  <a:srgbClr val="545454"/>
                </a:solidFill>
                <a:latin typeface="DM Sans Bold"/>
                <a:ea typeface="DM Sans Bold"/>
              </a:rPr>
              <a:t>수기 &amp; 전자 메모장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-2979279" y="6136264"/>
            <a:ext cx="8596698" cy="8596698"/>
            <a:chOff x="0" y="0"/>
            <a:chExt cx="812800" cy="8128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AE4D2"/>
            </a:solidFill>
            <a:ln w="952500" cap="sq">
              <a:solidFill>
                <a:srgbClr val="F6F6F6"/>
              </a:solidFill>
              <a:prstDash val="solid"/>
              <a:miter/>
            </a:ln>
          </p:spPr>
        </p:sp>
        <p:sp>
          <p:nvSpPr>
            <p:cNvPr name="TextBox 32" id="32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79"/>
                </a:lnSpc>
              </a:pPr>
            </a:p>
          </p:txBody>
        </p:sp>
      </p:grpSp>
      <p:sp>
        <p:nvSpPr>
          <p:cNvPr name="TextBox 33" id="33"/>
          <p:cNvSpPr txBox="true"/>
          <p:nvPr/>
        </p:nvSpPr>
        <p:spPr>
          <a:xfrm rot="0">
            <a:off x="10770798" y="9040977"/>
            <a:ext cx="6488502" cy="421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565"/>
              </a:lnSpc>
            </a:pPr>
            <a:r>
              <a:rPr lang="en-US" sz="2300">
                <a:solidFill>
                  <a:srgbClr val="F47C32"/>
                </a:solidFill>
                <a:ea typeface="Open Sans Bold"/>
              </a:rPr>
              <a:t>➡️ </a:t>
            </a:r>
            <a:r>
              <a:rPr lang="en-US" sz="2300">
                <a:solidFill>
                  <a:srgbClr val="000000"/>
                </a:solidFill>
                <a:ea typeface="Open Sans Bold"/>
              </a:rPr>
              <a:t>실시간으로 활용 가능한 다기능 어플리케이션 </a:t>
            </a:r>
            <a:r>
              <a:rPr lang="en-US" sz="2300">
                <a:solidFill>
                  <a:srgbClr val="F47C32"/>
                </a:solidFill>
                <a:ea typeface="Open Sans Bold"/>
              </a:rPr>
              <a:t>無 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028700" y="2131935"/>
            <a:ext cx="10872192" cy="0"/>
          </a:xfrm>
          <a:prstGeom prst="line">
            <a:avLst/>
          </a:prstGeom>
          <a:ln cap="flat" w="66675">
            <a:solidFill>
              <a:srgbClr val="EAE4D2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1028700" y="3283677"/>
            <a:ext cx="877649" cy="877649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47C32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44470" lIns="44470" bIns="44470" rIns="44470"/>
            <a:lstStyle/>
            <a:p>
              <a:pPr algn="ctr">
                <a:lnSpc>
                  <a:spcPts val="4199"/>
                </a:lnSpc>
              </a:pPr>
              <a:r>
                <a:rPr lang="en-US" sz="2999">
                  <a:solidFill>
                    <a:srgbClr val="FFFFFF"/>
                  </a:solidFill>
                  <a:latin typeface="Inter Bold"/>
                </a:rPr>
                <a:t>A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4115129" y="491889"/>
            <a:ext cx="3007762" cy="3007762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AE4D2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7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5502862" y="-1527567"/>
            <a:ext cx="4164696" cy="4164696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76200" cap="sq">
              <a:solidFill>
                <a:srgbClr val="EAE4D2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79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2114445" y="4805969"/>
            <a:ext cx="7919485" cy="3662762"/>
          </a:xfrm>
          <a:custGeom>
            <a:avLst/>
            <a:gdLst/>
            <a:ahLst/>
            <a:cxnLst/>
            <a:rect r="r" b="b" t="t" l="l"/>
            <a:pathLst>
              <a:path h="3662762" w="7919485">
                <a:moveTo>
                  <a:pt x="0" y="0"/>
                </a:moveTo>
                <a:lnTo>
                  <a:pt x="7919485" y="0"/>
                </a:lnTo>
                <a:lnTo>
                  <a:pt x="7919485" y="3662761"/>
                </a:lnTo>
                <a:lnTo>
                  <a:pt x="0" y="366276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3633069" y="5002894"/>
            <a:ext cx="661625" cy="3267283"/>
          </a:xfrm>
          <a:custGeom>
            <a:avLst/>
            <a:gdLst/>
            <a:ahLst/>
            <a:cxnLst/>
            <a:rect r="r" b="b" t="t" l="l"/>
            <a:pathLst>
              <a:path h="3267283" w="661625">
                <a:moveTo>
                  <a:pt x="0" y="0"/>
                </a:moveTo>
                <a:lnTo>
                  <a:pt x="661625" y="0"/>
                </a:lnTo>
                <a:lnTo>
                  <a:pt x="661625" y="3267283"/>
                </a:lnTo>
                <a:lnTo>
                  <a:pt x="0" y="326728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15524247" y="5683882"/>
            <a:ext cx="273839" cy="469128"/>
            <a:chOff x="0" y="0"/>
            <a:chExt cx="812800" cy="139245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1392450"/>
            </a:xfrm>
            <a:custGeom>
              <a:avLst/>
              <a:gdLst/>
              <a:ahLst/>
              <a:cxnLst/>
              <a:rect r="r" b="b" t="t" l="l"/>
              <a:pathLst>
                <a:path h="1392450" w="812800">
                  <a:moveTo>
                    <a:pt x="406400" y="1392450"/>
                  </a:moveTo>
                  <a:lnTo>
                    <a:pt x="0" y="986050"/>
                  </a:lnTo>
                  <a:lnTo>
                    <a:pt x="203200" y="9860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609600" y="986050"/>
                  </a:lnTo>
                  <a:lnTo>
                    <a:pt x="812800" y="986050"/>
                  </a:lnTo>
                  <a:lnTo>
                    <a:pt x="406400" y="1392450"/>
                  </a:lnTo>
                  <a:close/>
                </a:path>
              </a:pathLst>
            </a:custGeom>
            <a:solidFill>
              <a:srgbClr val="F47C00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203200" y="-47625"/>
              <a:ext cx="406400" cy="1338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7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-10800000">
            <a:off x="15524247" y="5590644"/>
            <a:ext cx="273839" cy="469128"/>
            <a:chOff x="0" y="0"/>
            <a:chExt cx="812800" cy="139245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1392450"/>
            </a:xfrm>
            <a:custGeom>
              <a:avLst/>
              <a:gdLst/>
              <a:ahLst/>
              <a:cxnLst/>
              <a:rect r="r" b="b" t="t" l="l"/>
              <a:pathLst>
                <a:path h="1392450" w="812800">
                  <a:moveTo>
                    <a:pt x="406400" y="1392450"/>
                  </a:moveTo>
                  <a:lnTo>
                    <a:pt x="0" y="986050"/>
                  </a:lnTo>
                  <a:lnTo>
                    <a:pt x="203200" y="9860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609600" y="986050"/>
                  </a:lnTo>
                  <a:lnTo>
                    <a:pt x="812800" y="986050"/>
                  </a:lnTo>
                  <a:lnTo>
                    <a:pt x="406400" y="1392450"/>
                  </a:lnTo>
                  <a:close/>
                </a:path>
              </a:pathLst>
            </a:custGeom>
            <a:solidFill>
              <a:srgbClr val="F47C00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203200" y="-47625"/>
              <a:ext cx="406400" cy="1338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7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5524247" y="7209546"/>
            <a:ext cx="273839" cy="469128"/>
            <a:chOff x="0" y="0"/>
            <a:chExt cx="812800" cy="139245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1392450"/>
            </a:xfrm>
            <a:custGeom>
              <a:avLst/>
              <a:gdLst/>
              <a:ahLst/>
              <a:cxnLst/>
              <a:rect r="r" b="b" t="t" l="l"/>
              <a:pathLst>
                <a:path h="1392450" w="812800">
                  <a:moveTo>
                    <a:pt x="406400" y="1392450"/>
                  </a:moveTo>
                  <a:lnTo>
                    <a:pt x="0" y="986050"/>
                  </a:lnTo>
                  <a:lnTo>
                    <a:pt x="203200" y="9860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609600" y="986050"/>
                  </a:lnTo>
                  <a:lnTo>
                    <a:pt x="812800" y="986050"/>
                  </a:lnTo>
                  <a:lnTo>
                    <a:pt x="406400" y="1392450"/>
                  </a:lnTo>
                  <a:close/>
                </a:path>
              </a:pathLst>
            </a:custGeom>
            <a:solidFill>
              <a:srgbClr val="F47C00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203200" y="-47625"/>
              <a:ext cx="406400" cy="1338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79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-10800000">
            <a:off x="15524247" y="7116308"/>
            <a:ext cx="273839" cy="469128"/>
            <a:chOff x="0" y="0"/>
            <a:chExt cx="812800" cy="139245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12800" cy="1392450"/>
            </a:xfrm>
            <a:custGeom>
              <a:avLst/>
              <a:gdLst/>
              <a:ahLst/>
              <a:cxnLst/>
              <a:rect r="r" b="b" t="t" l="l"/>
              <a:pathLst>
                <a:path h="1392450" w="812800">
                  <a:moveTo>
                    <a:pt x="406400" y="1392450"/>
                  </a:moveTo>
                  <a:lnTo>
                    <a:pt x="0" y="986050"/>
                  </a:lnTo>
                  <a:lnTo>
                    <a:pt x="203200" y="9860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609600" y="986050"/>
                  </a:lnTo>
                  <a:lnTo>
                    <a:pt x="812800" y="986050"/>
                  </a:lnTo>
                  <a:lnTo>
                    <a:pt x="406400" y="1392450"/>
                  </a:lnTo>
                  <a:close/>
                </a:path>
              </a:pathLst>
            </a:custGeom>
            <a:solidFill>
              <a:srgbClr val="F47C00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203200" y="-47625"/>
              <a:ext cx="406400" cy="1338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79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1495408" y="5143500"/>
            <a:ext cx="1469177" cy="3024080"/>
            <a:chOff x="0" y="0"/>
            <a:chExt cx="1958903" cy="4032107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958903" cy="4032107"/>
            </a:xfrm>
            <a:custGeom>
              <a:avLst/>
              <a:gdLst/>
              <a:ahLst/>
              <a:cxnLst/>
              <a:rect r="r" b="b" t="t" l="l"/>
              <a:pathLst>
                <a:path h="4032107" w="1958903">
                  <a:moveTo>
                    <a:pt x="0" y="0"/>
                  </a:moveTo>
                  <a:lnTo>
                    <a:pt x="1958903" y="0"/>
                  </a:lnTo>
                  <a:lnTo>
                    <a:pt x="1958903" y="4032107"/>
                  </a:lnTo>
                  <a:lnTo>
                    <a:pt x="0" y="40321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216132" y="753398"/>
              <a:ext cx="1526638" cy="2439454"/>
            </a:xfrm>
            <a:custGeom>
              <a:avLst/>
              <a:gdLst/>
              <a:ahLst/>
              <a:cxnLst/>
              <a:rect r="r" b="b" t="t" l="l"/>
              <a:pathLst>
                <a:path h="2439454" w="1526638">
                  <a:moveTo>
                    <a:pt x="0" y="0"/>
                  </a:moveTo>
                  <a:lnTo>
                    <a:pt x="1526638" y="0"/>
                  </a:lnTo>
                  <a:lnTo>
                    <a:pt x="1526638" y="2439454"/>
                  </a:lnTo>
                  <a:lnTo>
                    <a:pt x="0" y="24394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117401" t="0" r="-117401" b="0"/>
              </a:stretch>
            </a:blipFill>
          </p:spPr>
        </p:sp>
        <p:sp>
          <p:nvSpPr>
            <p:cNvPr name="Freeform 29" id="29"/>
            <p:cNvSpPr/>
            <p:nvPr/>
          </p:nvSpPr>
          <p:spPr>
            <a:xfrm flipH="false" flipV="false" rot="0">
              <a:off x="144404" y="1218225"/>
              <a:ext cx="1598366" cy="1598366"/>
            </a:xfrm>
            <a:custGeom>
              <a:avLst/>
              <a:gdLst/>
              <a:ahLst/>
              <a:cxnLst/>
              <a:rect r="r" b="b" t="t" l="l"/>
              <a:pathLst>
                <a:path h="1598366" w="1598366">
                  <a:moveTo>
                    <a:pt x="0" y="0"/>
                  </a:moveTo>
                  <a:lnTo>
                    <a:pt x="1598366" y="0"/>
                  </a:lnTo>
                  <a:lnTo>
                    <a:pt x="1598366" y="1598366"/>
                  </a:lnTo>
                  <a:lnTo>
                    <a:pt x="0" y="15983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sp>
        <p:nvSpPr>
          <p:cNvPr name="TextBox 30" id="30"/>
          <p:cNvSpPr txBox="true"/>
          <p:nvPr/>
        </p:nvSpPr>
        <p:spPr>
          <a:xfrm rot="0">
            <a:off x="1028700" y="1081292"/>
            <a:ext cx="7837788" cy="915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10"/>
              </a:lnSpc>
            </a:pPr>
            <a:r>
              <a:rPr lang="en-US" sz="6676">
                <a:solidFill>
                  <a:srgbClr val="F47C32"/>
                </a:solidFill>
                <a:ea typeface="Inter Bold"/>
              </a:rPr>
              <a:t>프로젝트 진행 배경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7557705" y="1500810"/>
            <a:ext cx="4343187" cy="3816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115"/>
              </a:lnSpc>
            </a:pPr>
            <a:r>
              <a:rPr lang="en-US" sz="2225" spc="164">
                <a:solidFill>
                  <a:srgbClr val="000000"/>
                </a:solidFill>
                <a:latin typeface="Open Sans Bold"/>
                <a:ea typeface="Open Sans Bold"/>
              </a:rPr>
              <a:t>아이디어 &amp; 개발물 기대 효과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2114445" y="3479399"/>
            <a:ext cx="4000263" cy="455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699">
                <a:solidFill>
                  <a:srgbClr val="000000"/>
                </a:solidFill>
                <a:ea typeface="Inter Bold"/>
              </a:rPr>
              <a:t>프로젝트 목표 </a:t>
            </a:r>
            <a:r>
              <a:rPr lang="en-US" sz="2699">
                <a:solidFill>
                  <a:srgbClr val="F47C00"/>
                </a:solidFill>
                <a:latin typeface="Inter Bold"/>
              </a:rPr>
              <a:t>&amp;</a:t>
            </a:r>
            <a:r>
              <a:rPr lang="en-US" sz="2699">
                <a:solidFill>
                  <a:srgbClr val="000000"/>
                </a:solidFill>
                <a:latin typeface="Inter Bold"/>
                <a:ea typeface="Inter Bold"/>
              </a:rPr>
              <a:t> 기대 효과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2895244" y="5829800"/>
            <a:ext cx="6357887" cy="15198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112"/>
              </a:lnSpc>
            </a:pPr>
            <a:r>
              <a:rPr lang="en-US" sz="2653">
                <a:solidFill>
                  <a:srgbClr val="000000"/>
                </a:solidFill>
                <a:ea typeface="Open Sans Bold"/>
              </a:rPr>
              <a:t>아웃리치 작업 통합 관리 어플리케이션을 통한</a:t>
            </a:r>
          </a:p>
          <a:p>
            <a:pPr algn="just">
              <a:lnSpc>
                <a:spcPts val="4112"/>
              </a:lnSpc>
            </a:pPr>
          </a:p>
          <a:p>
            <a:pPr algn="just">
              <a:lnSpc>
                <a:spcPts val="4112"/>
              </a:lnSpc>
            </a:pPr>
            <a:r>
              <a:rPr lang="en-US" sz="2653">
                <a:solidFill>
                  <a:srgbClr val="000000"/>
                </a:solidFill>
                <a:ea typeface="Open Sans Bold"/>
              </a:rPr>
              <a:t>사회복지사 업무 효율성 증대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4380419" y="4884521"/>
            <a:ext cx="2561497" cy="378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62"/>
              </a:lnSpc>
            </a:pPr>
            <a:r>
              <a:rPr lang="en-US" sz="2080">
                <a:solidFill>
                  <a:srgbClr val="000000"/>
                </a:solidFill>
                <a:ea typeface="DM Sans Bold"/>
              </a:rPr>
              <a:t>아웃리치 수행 전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4380419" y="6413938"/>
            <a:ext cx="2561497" cy="378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62"/>
              </a:lnSpc>
            </a:pPr>
            <a:r>
              <a:rPr lang="en-US" sz="2080">
                <a:solidFill>
                  <a:srgbClr val="000000"/>
                </a:solidFill>
                <a:ea typeface="DM Sans Bold"/>
              </a:rPr>
              <a:t>아웃리치 수행 중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4380419" y="7944983"/>
            <a:ext cx="2561497" cy="378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62"/>
              </a:lnSpc>
            </a:pPr>
            <a:r>
              <a:rPr lang="en-US" sz="2080">
                <a:solidFill>
                  <a:srgbClr val="000000"/>
                </a:solidFill>
                <a:ea typeface="DM Sans Bold"/>
              </a:rPr>
              <a:t>아웃리치 수행 후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39945" y="1900614"/>
            <a:ext cx="877649" cy="877649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AE4D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44470" lIns="44470" bIns="44470" rIns="44470"/>
            <a:lstStyle/>
            <a:p>
              <a:pPr algn="ctr">
                <a:lnSpc>
                  <a:spcPts val="4199"/>
                </a:lnSpc>
              </a:pPr>
              <a:r>
                <a:rPr lang="en-US" sz="2999">
                  <a:solidFill>
                    <a:srgbClr val="F47C32"/>
                  </a:solidFill>
                  <a:latin typeface="Inter Bold"/>
                </a:rPr>
                <a:t>01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7400866" y="0"/>
            <a:ext cx="863406" cy="1914819"/>
            <a:chOff x="0" y="0"/>
            <a:chExt cx="227399" cy="50431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7399" cy="504314"/>
            </a:xfrm>
            <a:custGeom>
              <a:avLst/>
              <a:gdLst/>
              <a:ahLst/>
              <a:cxnLst/>
              <a:rect r="r" b="b" t="t" l="l"/>
              <a:pathLst>
                <a:path h="504314" w="227399">
                  <a:moveTo>
                    <a:pt x="0" y="0"/>
                  </a:moveTo>
                  <a:lnTo>
                    <a:pt x="227399" y="0"/>
                  </a:lnTo>
                  <a:lnTo>
                    <a:pt x="227399" y="504314"/>
                  </a:lnTo>
                  <a:lnTo>
                    <a:pt x="0" y="504314"/>
                  </a:lnTo>
                  <a:close/>
                </a:path>
              </a:pathLst>
            </a:custGeom>
            <a:solidFill>
              <a:srgbClr val="F47C32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227399" cy="5519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7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0" y="10094695"/>
            <a:ext cx="18264272" cy="192305"/>
            <a:chOff x="0" y="0"/>
            <a:chExt cx="4810343" cy="5064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810343" cy="50648"/>
            </a:xfrm>
            <a:custGeom>
              <a:avLst/>
              <a:gdLst/>
              <a:ahLst/>
              <a:cxnLst/>
              <a:rect r="r" b="b" t="t" l="l"/>
              <a:pathLst>
                <a:path h="50648" w="4810343">
                  <a:moveTo>
                    <a:pt x="0" y="0"/>
                  </a:moveTo>
                  <a:lnTo>
                    <a:pt x="4810343" y="0"/>
                  </a:lnTo>
                  <a:lnTo>
                    <a:pt x="4810343" y="50648"/>
                  </a:lnTo>
                  <a:lnTo>
                    <a:pt x="0" y="50648"/>
                  </a:lnTo>
                  <a:close/>
                </a:path>
              </a:pathLst>
            </a:custGeom>
            <a:solidFill>
              <a:srgbClr val="F47C32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4810343" cy="982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7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3898380" y="-3258549"/>
            <a:ext cx="4674258" cy="4674258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76200" cap="sq">
              <a:solidFill>
                <a:srgbClr val="EAE4D2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79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2981293" y="3502163"/>
            <a:ext cx="1649730" cy="1649730"/>
          </a:xfrm>
          <a:custGeom>
            <a:avLst/>
            <a:gdLst/>
            <a:ahLst/>
            <a:cxnLst/>
            <a:rect r="r" b="b" t="t" l="l"/>
            <a:pathLst>
              <a:path h="1649730" w="1649730">
                <a:moveTo>
                  <a:pt x="0" y="0"/>
                </a:moveTo>
                <a:lnTo>
                  <a:pt x="1649729" y="0"/>
                </a:lnTo>
                <a:lnTo>
                  <a:pt x="1649729" y="1649730"/>
                </a:lnTo>
                <a:lnTo>
                  <a:pt x="0" y="16497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8319135" y="3502163"/>
            <a:ext cx="1649730" cy="1649730"/>
          </a:xfrm>
          <a:custGeom>
            <a:avLst/>
            <a:gdLst/>
            <a:ahLst/>
            <a:cxnLst/>
            <a:rect r="r" b="b" t="t" l="l"/>
            <a:pathLst>
              <a:path h="1649730" w="1649730">
                <a:moveTo>
                  <a:pt x="0" y="0"/>
                </a:moveTo>
                <a:lnTo>
                  <a:pt x="1649730" y="0"/>
                </a:lnTo>
                <a:lnTo>
                  <a:pt x="1649730" y="1649730"/>
                </a:lnTo>
                <a:lnTo>
                  <a:pt x="0" y="164973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3661174" y="3502163"/>
            <a:ext cx="1641337" cy="1641337"/>
          </a:xfrm>
          <a:custGeom>
            <a:avLst/>
            <a:gdLst/>
            <a:ahLst/>
            <a:cxnLst/>
            <a:rect r="r" b="b" t="t" l="l"/>
            <a:pathLst>
              <a:path h="1641337" w="1641337">
                <a:moveTo>
                  <a:pt x="0" y="0"/>
                </a:moveTo>
                <a:lnTo>
                  <a:pt x="1641337" y="0"/>
                </a:lnTo>
                <a:lnTo>
                  <a:pt x="1641337" y="1641337"/>
                </a:lnTo>
                <a:lnTo>
                  <a:pt x="0" y="164133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2853750" y="6884403"/>
            <a:ext cx="1904816" cy="1904816"/>
          </a:xfrm>
          <a:custGeom>
            <a:avLst/>
            <a:gdLst/>
            <a:ahLst/>
            <a:cxnLst/>
            <a:rect r="r" b="b" t="t" l="l"/>
            <a:pathLst>
              <a:path h="1904816" w="1904816">
                <a:moveTo>
                  <a:pt x="0" y="0"/>
                </a:moveTo>
                <a:lnTo>
                  <a:pt x="1904815" y="0"/>
                </a:lnTo>
                <a:lnTo>
                  <a:pt x="1904815" y="1904816"/>
                </a:lnTo>
                <a:lnTo>
                  <a:pt x="0" y="190481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8173328" y="6871603"/>
            <a:ext cx="1917616" cy="1917616"/>
          </a:xfrm>
          <a:custGeom>
            <a:avLst/>
            <a:gdLst/>
            <a:ahLst/>
            <a:cxnLst/>
            <a:rect r="r" b="b" t="t" l="l"/>
            <a:pathLst>
              <a:path h="1917616" w="1917616">
                <a:moveTo>
                  <a:pt x="0" y="0"/>
                </a:moveTo>
                <a:lnTo>
                  <a:pt x="1917616" y="0"/>
                </a:lnTo>
                <a:lnTo>
                  <a:pt x="1917616" y="1917616"/>
                </a:lnTo>
                <a:lnTo>
                  <a:pt x="0" y="1917616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3661174" y="7016143"/>
            <a:ext cx="1641337" cy="1641337"/>
          </a:xfrm>
          <a:custGeom>
            <a:avLst/>
            <a:gdLst/>
            <a:ahLst/>
            <a:cxnLst/>
            <a:rect r="r" b="b" t="t" l="l"/>
            <a:pathLst>
              <a:path h="1641337" w="1641337">
                <a:moveTo>
                  <a:pt x="0" y="0"/>
                </a:moveTo>
                <a:lnTo>
                  <a:pt x="1641337" y="0"/>
                </a:lnTo>
                <a:lnTo>
                  <a:pt x="1641337" y="1641337"/>
                </a:lnTo>
                <a:lnTo>
                  <a:pt x="0" y="164133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839945" y="552744"/>
            <a:ext cx="9710190" cy="939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40"/>
              </a:lnSpc>
            </a:pPr>
            <a:r>
              <a:rPr lang="en-US" sz="6800">
                <a:solidFill>
                  <a:srgbClr val="F47C32"/>
                </a:solidFill>
                <a:ea typeface="Inter Bold"/>
              </a:rPr>
              <a:t>프로젝트 추진전략 </a:t>
            </a:r>
            <a:r>
              <a:rPr lang="en-US" sz="6800">
                <a:solidFill>
                  <a:srgbClr val="000000"/>
                </a:solidFill>
                <a:latin typeface="Inter Bold"/>
              </a:rPr>
              <a:t>&amp;</a:t>
            </a:r>
            <a:r>
              <a:rPr lang="en-US" sz="6800">
                <a:solidFill>
                  <a:srgbClr val="F47C32"/>
                </a:solidFill>
                <a:latin typeface="Inter Bold"/>
                <a:ea typeface="Inter Bold"/>
              </a:rPr>
              <a:t> 방법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925690" y="2096336"/>
            <a:ext cx="4877173" cy="455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699">
                <a:solidFill>
                  <a:srgbClr val="000000"/>
                </a:solidFill>
                <a:ea typeface="Inter Bold"/>
              </a:rPr>
              <a:t>활용 기술 </a:t>
            </a:r>
            <a:r>
              <a:rPr lang="en-US" sz="2699">
                <a:solidFill>
                  <a:srgbClr val="F47C32"/>
                </a:solidFill>
                <a:latin typeface="Inter Bold"/>
              </a:rPr>
              <a:t>&amp;</a:t>
            </a:r>
            <a:r>
              <a:rPr lang="en-US" sz="2699">
                <a:solidFill>
                  <a:srgbClr val="000000"/>
                </a:solidFill>
                <a:latin typeface="Inter Bold"/>
                <a:ea typeface="Inter Bold"/>
              </a:rPr>
              <a:t> 툴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2398575" y="5704343"/>
            <a:ext cx="2815166" cy="455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</a:pPr>
            <a:r>
              <a:rPr lang="en-US" sz="2699">
                <a:solidFill>
                  <a:srgbClr val="000000"/>
                </a:solidFill>
                <a:latin typeface="Inter Bold"/>
              </a:rPr>
              <a:t>Android Studio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3074260" y="5704343"/>
            <a:ext cx="2815166" cy="455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</a:pPr>
            <a:r>
              <a:rPr lang="en-US" sz="2699">
                <a:solidFill>
                  <a:srgbClr val="000000"/>
                </a:solidFill>
                <a:latin typeface="Inter Bold"/>
              </a:rPr>
              <a:t>AI·NAVER API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3074260" y="9032505"/>
            <a:ext cx="2815166" cy="455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</a:pPr>
            <a:r>
              <a:rPr lang="en-US" sz="2699">
                <a:solidFill>
                  <a:srgbClr val="000000"/>
                </a:solidFill>
                <a:latin typeface="Inter Bold"/>
              </a:rPr>
              <a:t>SQLite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7734969" y="9032505"/>
            <a:ext cx="2815166" cy="455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</a:pPr>
            <a:r>
              <a:rPr lang="en-US" sz="2699">
                <a:solidFill>
                  <a:srgbClr val="000000"/>
                </a:solidFill>
                <a:latin typeface="Inter Bold"/>
              </a:rPr>
              <a:t>Draw.io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2398575" y="9032505"/>
            <a:ext cx="2815166" cy="455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</a:pPr>
            <a:r>
              <a:rPr lang="en-US" sz="2699">
                <a:solidFill>
                  <a:srgbClr val="000000"/>
                </a:solidFill>
                <a:latin typeface="Inter Bold"/>
              </a:rPr>
              <a:t>ERD Cloud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7734969" y="5704343"/>
            <a:ext cx="2815166" cy="455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</a:pPr>
            <a:r>
              <a:rPr lang="en-US" sz="2699">
                <a:solidFill>
                  <a:srgbClr val="000000"/>
                </a:solidFill>
                <a:latin typeface="Inter Bold"/>
              </a:rPr>
              <a:t>Kotlin</a:t>
            </a:r>
          </a:p>
        </p:txBody>
      </p:sp>
      <p:sp>
        <p:nvSpPr>
          <p:cNvPr name="AutoShape 28" id="28"/>
          <p:cNvSpPr/>
          <p:nvPr/>
        </p:nvSpPr>
        <p:spPr>
          <a:xfrm flipV="true">
            <a:off x="10550135" y="957409"/>
            <a:ext cx="4376323" cy="17292"/>
          </a:xfrm>
          <a:prstGeom prst="line">
            <a:avLst/>
          </a:prstGeom>
          <a:ln cap="flat" w="76200">
            <a:solidFill>
              <a:srgbClr val="EAE4D2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39945" y="2796715"/>
            <a:ext cx="877649" cy="877649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AE4D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44470" lIns="44470" bIns="44470" rIns="44470"/>
            <a:lstStyle/>
            <a:p>
              <a:pPr algn="ctr">
                <a:lnSpc>
                  <a:spcPts val="4199"/>
                </a:lnSpc>
              </a:pPr>
              <a:r>
                <a:rPr lang="en-US" sz="2999">
                  <a:solidFill>
                    <a:srgbClr val="F47C32"/>
                  </a:solidFill>
                  <a:latin typeface="Inter Bold"/>
                </a:rPr>
                <a:t>02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590495" y="2796715"/>
            <a:ext cx="877649" cy="877649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AE4D2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44470" lIns="44470" bIns="44470" rIns="44470"/>
            <a:lstStyle/>
            <a:p>
              <a:pPr algn="ctr">
                <a:lnSpc>
                  <a:spcPts val="4199"/>
                </a:lnSpc>
              </a:pPr>
              <a:r>
                <a:rPr lang="en-US" sz="2999">
                  <a:solidFill>
                    <a:srgbClr val="F47C32"/>
                  </a:solidFill>
                  <a:latin typeface="Inter Bold"/>
                </a:rPr>
                <a:t>03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7400866" y="0"/>
            <a:ext cx="863406" cy="1914819"/>
            <a:chOff x="0" y="0"/>
            <a:chExt cx="227399" cy="50431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7399" cy="504314"/>
            </a:xfrm>
            <a:custGeom>
              <a:avLst/>
              <a:gdLst/>
              <a:ahLst/>
              <a:cxnLst/>
              <a:rect r="r" b="b" t="t" l="l"/>
              <a:pathLst>
                <a:path h="504314" w="227399">
                  <a:moveTo>
                    <a:pt x="0" y="0"/>
                  </a:moveTo>
                  <a:lnTo>
                    <a:pt x="227399" y="0"/>
                  </a:lnTo>
                  <a:lnTo>
                    <a:pt x="227399" y="504314"/>
                  </a:lnTo>
                  <a:lnTo>
                    <a:pt x="0" y="504314"/>
                  </a:lnTo>
                  <a:close/>
                </a:path>
              </a:pathLst>
            </a:custGeom>
            <a:solidFill>
              <a:srgbClr val="F47C32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227399" cy="5519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7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-1061650" y="8036778"/>
            <a:ext cx="3803190" cy="3803190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0" cap="sq">
              <a:solidFill>
                <a:srgbClr val="F6F6F6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7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0" y="10094695"/>
            <a:ext cx="18264272" cy="192305"/>
            <a:chOff x="0" y="0"/>
            <a:chExt cx="4810343" cy="5064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810343" cy="50648"/>
            </a:xfrm>
            <a:custGeom>
              <a:avLst/>
              <a:gdLst/>
              <a:ahLst/>
              <a:cxnLst/>
              <a:rect r="r" b="b" t="t" l="l"/>
              <a:pathLst>
                <a:path h="50648" w="4810343">
                  <a:moveTo>
                    <a:pt x="0" y="0"/>
                  </a:moveTo>
                  <a:lnTo>
                    <a:pt x="4810343" y="0"/>
                  </a:lnTo>
                  <a:lnTo>
                    <a:pt x="4810343" y="50648"/>
                  </a:lnTo>
                  <a:lnTo>
                    <a:pt x="0" y="50648"/>
                  </a:lnTo>
                  <a:close/>
                </a:path>
              </a:pathLst>
            </a:custGeom>
            <a:solidFill>
              <a:srgbClr val="F47C32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4810343" cy="982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79"/>
                </a:lnSpc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839945" y="552744"/>
            <a:ext cx="9836295" cy="939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40"/>
              </a:lnSpc>
            </a:pPr>
            <a:r>
              <a:rPr lang="en-US" sz="6800">
                <a:solidFill>
                  <a:srgbClr val="F47C32"/>
                </a:solidFill>
                <a:latin typeface="Inter Bold"/>
                <a:ea typeface="Inter Bold"/>
              </a:rPr>
              <a:t>프로젝트 추진전략 &amp; 방법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887570" y="1648000"/>
            <a:ext cx="6818840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</a:pPr>
            <a:r>
              <a:rPr lang="en-US" sz="2400" spc="177">
                <a:solidFill>
                  <a:srgbClr val="000000"/>
                </a:solidFill>
                <a:latin typeface="Open Sans Bold"/>
              </a:rPr>
              <a:t>EXPECTED SERVICE BENEFITS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925690" y="2992436"/>
            <a:ext cx="4877173" cy="455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699">
                <a:solidFill>
                  <a:srgbClr val="000000"/>
                </a:solidFill>
                <a:ea typeface="Inter Bold"/>
              </a:rPr>
              <a:t>진행한 조사 </a:t>
            </a:r>
            <a:r>
              <a:rPr lang="en-US" sz="2699">
                <a:solidFill>
                  <a:srgbClr val="F47C00"/>
                </a:solidFill>
                <a:latin typeface="Inter Bold"/>
              </a:rPr>
              <a:t>&amp;</a:t>
            </a:r>
            <a:r>
              <a:rPr lang="en-US" sz="2699">
                <a:solidFill>
                  <a:srgbClr val="000000"/>
                </a:solidFill>
                <a:latin typeface="Inter Bold"/>
                <a:ea typeface="Inter Bold"/>
              </a:rPr>
              <a:t> 답사 </a:t>
            </a:r>
            <a:r>
              <a:rPr lang="en-US" sz="2699">
                <a:solidFill>
                  <a:srgbClr val="F47C00"/>
                </a:solidFill>
                <a:latin typeface="Inter Bold"/>
              </a:rPr>
              <a:t>&amp;</a:t>
            </a:r>
            <a:r>
              <a:rPr lang="en-US" sz="2699">
                <a:solidFill>
                  <a:srgbClr val="000000"/>
                </a:solidFill>
                <a:latin typeface="Inter Bold"/>
                <a:ea typeface="Inter Bold"/>
              </a:rPr>
              <a:t> 인터뷰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676240" y="2992436"/>
            <a:ext cx="6724626" cy="455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699">
                <a:solidFill>
                  <a:srgbClr val="000000"/>
                </a:solidFill>
                <a:latin typeface="Inter Bold"/>
                <a:ea typeface="Inter Bold"/>
              </a:rPr>
              <a:t>팀 내 R </a:t>
            </a:r>
            <a:r>
              <a:rPr lang="en-US" sz="2699">
                <a:solidFill>
                  <a:srgbClr val="F47C00"/>
                </a:solidFill>
                <a:latin typeface="Inter Bold"/>
              </a:rPr>
              <a:t>&amp; </a:t>
            </a:r>
            <a:r>
              <a:rPr lang="en-US" sz="2699">
                <a:solidFill>
                  <a:srgbClr val="000000"/>
                </a:solidFill>
                <a:latin typeface="Inter Bold"/>
              </a:rPr>
              <a:t>R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925690" y="3852495"/>
            <a:ext cx="6724626" cy="4170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18160" indent="-259080" lvl="1">
              <a:lnSpc>
                <a:spcPts val="3720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Open Sans"/>
                <a:ea typeface="Open Sans"/>
              </a:rPr>
              <a:t>24. 04. 17 (수)</a:t>
            </a:r>
            <a:r>
              <a:rPr lang="en-US" sz="2400">
                <a:solidFill>
                  <a:srgbClr val="000000"/>
                </a:solidFill>
                <a:latin typeface="Open Sans Bold"/>
                <a:ea typeface="Open Sans Bold"/>
              </a:rPr>
              <a:t> _ 1차 사전 인터뷰</a:t>
            </a:r>
          </a:p>
          <a:p>
            <a:pPr algn="just">
              <a:lnSpc>
                <a:spcPts val="3720"/>
              </a:lnSpc>
            </a:pPr>
          </a:p>
          <a:p>
            <a:pPr algn="just" marL="518160" indent="-259080" lvl="1">
              <a:lnSpc>
                <a:spcPts val="3720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Open Sans"/>
                <a:ea typeface="Open Sans"/>
              </a:rPr>
              <a:t>24. 04. 26 (금) </a:t>
            </a:r>
            <a:r>
              <a:rPr lang="en-US" sz="2400">
                <a:solidFill>
                  <a:srgbClr val="000000"/>
                </a:solidFill>
                <a:latin typeface="Open Sans Bold"/>
                <a:ea typeface="Open Sans Bold"/>
              </a:rPr>
              <a:t>_ 2차 사전 인터뷰</a:t>
            </a:r>
          </a:p>
          <a:p>
            <a:pPr algn="just">
              <a:lnSpc>
                <a:spcPts val="3720"/>
              </a:lnSpc>
            </a:pPr>
          </a:p>
          <a:p>
            <a:pPr algn="just" marL="518160" indent="-259080" lvl="1">
              <a:lnSpc>
                <a:spcPts val="3720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Open Sans"/>
                <a:ea typeface="Open Sans"/>
              </a:rPr>
              <a:t>24. 05. 17 (금)</a:t>
            </a:r>
            <a:r>
              <a:rPr lang="en-US" sz="2400">
                <a:solidFill>
                  <a:srgbClr val="000000"/>
                </a:solidFill>
                <a:latin typeface="Open Sans Bold"/>
                <a:ea typeface="Open Sans Bold"/>
              </a:rPr>
              <a:t> _ 다시서기 센터 단독 인터뷰</a:t>
            </a:r>
          </a:p>
          <a:p>
            <a:pPr algn="just">
              <a:lnSpc>
                <a:spcPts val="3720"/>
              </a:lnSpc>
            </a:pPr>
          </a:p>
          <a:p>
            <a:pPr algn="just" marL="518160" indent="-259080" lvl="1">
              <a:lnSpc>
                <a:spcPts val="3720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Open Sans"/>
                <a:ea typeface="Open Sans"/>
              </a:rPr>
              <a:t>24. 05. 21 (화)</a:t>
            </a:r>
            <a:r>
              <a:rPr lang="en-US" sz="2400">
                <a:solidFill>
                  <a:srgbClr val="000000"/>
                </a:solidFill>
                <a:latin typeface="Open Sans Bold"/>
                <a:ea typeface="Open Sans Bold"/>
              </a:rPr>
              <a:t> _ 비전트레이닝 센터 단독 인터뷰</a:t>
            </a:r>
          </a:p>
          <a:p>
            <a:pPr algn="just">
              <a:lnSpc>
                <a:spcPts val="3720"/>
              </a:lnSpc>
            </a:pPr>
          </a:p>
          <a:p>
            <a:pPr algn="just" marL="518160" indent="-259080" lvl="1">
              <a:lnSpc>
                <a:spcPts val="3720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Open Sans"/>
                <a:ea typeface="Open Sans"/>
              </a:rPr>
              <a:t>24. 05. 29 (수)</a:t>
            </a:r>
            <a:r>
              <a:rPr lang="en-US" sz="2400">
                <a:solidFill>
                  <a:srgbClr val="000000"/>
                </a:solidFill>
                <a:latin typeface="Open Sans Bold"/>
                <a:ea typeface="Open Sans Bold"/>
              </a:rPr>
              <a:t> _  다시서기 아웃리치 활동 참여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0676240" y="3852495"/>
            <a:ext cx="6724626" cy="51034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720"/>
              </a:lnSpc>
            </a:pPr>
            <a:r>
              <a:rPr lang="en-US" sz="2400">
                <a:solidFill>
                  <a:srgbClr val="000000"/>
                </a:solidFill>
                <a:ea typeface="Open Sans Bold"/>
              </a:rPr>
              <a:t>🟠 이경화</a:t>
            </a:r>
          </a:p>
          <a:p>
            <a:pPr algn="just" marL="518160" indent="-259080" lvl="1">
              <a:lnSpc>
                <a:spcPts val="3720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Open Sans"/>
                <a:ea typeface="Open Sans"/>
              </a:rPr>
              <a:t>Back - End (Main) ➕ Front - End (Sub)</a:t>
            </a:r>
          </a:p>
          <a:p>
            <a:pPr algn="just">
              <a:lnSpc>
                <a:spcPts val="3720"/>
              </a:lnSpc>
            </a:pPr>
          </a:p>
          <a:p>
            <a:pPr algn="just">
              <a:lnSpc>
                <a:spcPts val="3720"/>
              </a:lnSpc>
            </a:pPr>
            <a:r>
              <a:rPr lang="en-US" sz="2400">
                <a:solidFill>
                  <a:srgbClr val="000000"/>
                </a:solidFill>
                <a:ea typeface="Open Sans Bold"/>
              </a:rPr>
              <a:t>🟠 </a:t>
            </a:r>
            <a:r>
              <a:rPr lang="en-US" sz="2400">
                <a:solidFill>
                  <a:srgbClr val="000000"/>
                </a:solidFill>
                <a:ea typeface="Open Sans Bold"/>
              </a:rPr>
              <a:t>손효림</a:t>
            </a:r>
          </a:p>
          <a:p>
            <a:pPr algn="just" marL="518160" indent="-259080" lvl="1">
              <a:lnSpc>
                <a:spcPts val="3720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Open Sans"/>
                <a:ea typeface="Open Sans"/>
              </a:rPr>
              <a:t>컨택 관리 ➕ Front - End (Main)</a:t>
            </a:r>
          </a:p>
          <a:p>
            <a:pPr algn="just">
              <a:lnSpc>
                <a:spcPts val="3720"/>
              </a:lnSpc>
            </a:pPr>
          </a:p>
          <a:p>
            <a:pPr algn="just">
              <a:lnSpc>
                <a:spcPts val="3720"/>
              </a:lnSpc>
            </a:pPr>
            <a:r>
              <a:rPr lang="en-US" sz="2400">
                <a:solidFill>
                  <a:srgbClr val="000000"/>
                </a:solidFill>
                <a:ea typeface="Open Sans Bold"/>
              </a:rPr>
              <a:t>🟠 </a:t>
            </a:r>
            <a:r>
              <a:rPr lang="en-US" sz="2400">
                <a:solidFill>
                  <a:srgbClr val="000000"/>
                </a:solidFill>
                <a:ea typeface="Open Sans Bold"/>
              </a:rPr>
              <a:t>한별하</a:t>
            </a:r>
          </a:p>
          <a:p>
            <a:pPr algn="just" marL="518160" indent="-259080" lvl="1">
              <a:lnSpc>
                <a:spcPts val="3720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Open Sans"/>
                <a:ea typeface="Open Sans"/>
              </a:rPr>
              <a:t>Front - End (Main) ➕ Back - End (Sub)</a:t>
            </a:r>
          </a:p>
          <a:p>
            <a:pPr algn="just">
              <a:lnSpc>
                <a:spcPts val="3720"/>
              </a:lnSpc>
            </a:pPr>
          </a:p>
          <a:p>
            <a:pPr algn="just">
              <a:lnSpc>
                <a:spcPts val="3720"/>
              </a:lnSpc>
            </a:pPr>
            <a:r>
              <a:rPr lang="en-US" sz="2400">
                <a:solidFill>
                  <a:srgbClr val="000000"/>
                </a:solidFill>
                <a:ea typeface="Open Sans Bold"/>
              </a:rPr>
              <a:t>🟠 </a:t>
            </a:r>
            <a:r>
              <a:rPr lang="en-US" sz="2400">
                <a:solidFill>
                  <a:srgbClr val="000000"/>
                </a:solidFill>
                <a:ea typeface="Open Sans Bold"/>
              </a:rPr>
              <a:t>한아림</a:t>
            </a:r>
          </a:p>
          <a:p>
            <a:pPr algn="just" marL="518160" indent="-259080" lvl="1">
              <a:lnSpc>
                <a:spcPts val="3720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Open Sans"/>
                <a:ea typeface="Open Sans"/>
              </a:rPr>
              <a:t>VCS 관리 ➕ Front - End (Main)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13898380" y="-3453244"/>
            <a:ext cx="4674258" cy="4674258"/>
            <a:chOff x="0" y="0"/>
            <a:chExt cx="812800" cy="812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76200" cap="sq">
              <a:solidFill>
                <a:srgbClr val="EAE4D2"/>
              </a:solidFill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79"/>
                </a:lnSpc>
              </a:pP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400866" y="0"/>
            <a:ext cx="863406" cy="1914819"/>
            <a:chOff x="0" y="0"/>
            <a:chExt cx="227399" cy="50431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7399" cy="504314"/>
            </a:xfrm>
            <a:custGeom>
              <a:avLst/>
              <a:gdLst/>
              <a:ahLst/>
              <a:cxnLst/>
              <a:rect r="r" b="b" t="t" l="l"/>
              <a:pathLst>
                <a:path h="504314" w="227399">
                  <a:moveTo>
                    <a:pt x="0" y="0"/>
                  </a:moveTo>
                  <a:lnTo>
                    <a:pt x="227399" y="0"/>
                  </a:lnTo>
                  <a:lnTo>
                    <a:pt x="227399" y="504314"/>
                  </a:lnTo>
                  <a:lnTo>
                    <a:pt x="0" y="504314"/>
                  </a:lnTo>
                  <a:close/>
                </a:path>
              </a:pathLst>
            </a:custGeom>
            <a:solidFill>
              <a:srgbClr val="F47C3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227399" cy="5519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7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10094695"/>
            <a:ext cx="18264272" cy="192305"/>
            <a:chOff x="0" y="0"/>
            <a:chExt cx="4810343" cy="5064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810343" cy="50648"/>
            </a:xfrm>
            <a:custGeom>
              <a:avLst/>
              <a:gdLst/>
              <a:ahLst/>
              <a:cxnLst/>
              <a:rect r="r" b="b" t="t" l="l"/>
              <a:pathLst>
                <a:path h="50648" w="4810343">
                  <a:moveTo>
                    <a:pt x="0" y="0"/>
                  </a:moveTo>
                  <a:lnTo>
                    <a:pt x="4810343" y="0"/>
                  </a:lnTo>
                  <a:lnTo>
                    <a:pt x="4810343" y="50648"/>
                  </a:lnTo>
                  <a:lnTo>
                    <a:pt x="0" y="50648"/>
                  </a:lnTo>
                  <a:close/>
                </a:path>
              </a:pathLst>
            </a:custGeom>
            <a:solidFill>
              <a:srgbClr val="F47C32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4810343" cy="982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7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3898380" y="-3453244"/>
            <a:ext cx="4674258" cy="4674258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76200" cap="sq">
              <a:solidFill>
                <a:srgbClr val="EAE4D2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7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839945" y="2450209"/>
            <a:ext cx="877649" cy="877649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AE4D2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44470" lIns="44470" bIns="44470" rIns="44470"/>
            <a:lstStyle/>
            <a:p>
              <a:pPr algn="ctr">
                <a:lnSpc>
                  <a:spcPts val="4199"/>
                </a:lnSpc>
              </a:pPr>
              <a:r>
                <a:rPr lang="en-US" sz="2999">
                  <a:solidFill>
                    <a:srgbClr val="F47C32"/>
                  </a:solidFill>
                  <a:latin typeface="Inter Bold"/>
                </a:rPr>
                <a:t>04</a:t>
              </a: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1639026" y="3518358"/>
            <a:ext cx="15009947" cy="6157074"/>
          </a:xfrm>
          <a:custGeom>
            <a:avLst/>
            <a:gdLst/>
            <a:ahLst/>
            <a:cxnLst/>
            <a:rect r="r" b="b" t="t" l="l"/>
            <a:pathLst>
              <a:path h="6157074" w="15009947">
                <a:moveTo>
                  <a:pt x="0" y="0"/>
                </a:moveTo>
                <a:lnTo>
                  <a:pt x="15009948" y="0"/>
                </a:lnTo>
                <a:lnTo>
                  <a:pt x="15009948" y="6157074"/>
                </a:lnTo>
                <a:lnTo>
                  <a:pt x="0" y="615707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839945" y="552744"/>
            <a:ext cx="9836295" cy="939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40"/>
              </a:lnSpc>
            </a:pPr>
            <a:r>
              <a:rPr lang="en-US" sz="6800">
                <a:solidFill>
                  <a:srgbClr val="F47C32"/>
                </a:solidFill>
                <a:latin typeface="Inter Bold"/>
                <a:ea typeface="Inter Bold"/>
              </a:rPr>
              <a:t>프로젝트 추진전략 &amp; 방법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887570" y="1648000"/>
            <a:ext cx="6818840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</a:pPr>
            <a:r>
              <a:rPr lang="en-US" sz="2400" spc="177">
                <a:solidFill>
                  <a:srgbClr val="000000"/>
                </a:solidFill>
                <a:latin typeface="Open Sans Bold"/>
              </a:rPr>
              <a:t>EXPECTED SERVICE BENEFITS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925690" y="2645931"/>
            <a:ext cx="4877173" cy="455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699">
                <a:solidFill>
                  <a:srgbClr val="000000"/>
                </a:solidFill>
                <a:ea typeface="Inter Bold"/>
              </a:rPr>
              <a:t>진행 마일스톤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5794133" cy="10287000"/>
            <a:chOff x="0" y="0"/>
            <a:chExt cx="1526027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26027" cy="2709333"/>
            </a:xfrm>
            <a:custGeom>
              <a:avLst/>
              <a:gdLst/>
              <a:ahLst/>
              <a:cxnLst/>
              <a:rect r="r" b="b" t="t" l="l"/>
              <a:pathLst>
                <a:path h="2709333" w="1526027">
                  <a:moveTo>
                    <a:pt x="0" y="0"/>
                  </a:moveTo>
                  <a:lnTo>
                    <a:pt x="1526027" y="0"/>
                  </a:lnTo>
                  <a:lnTo>
                    <a:pt x="1526027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47C3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1526027" cy="2756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79"/>
                </a:lnSpc>
              </a:pPr>
            </a:p>
          </p:txBody>
        </p:sp>
      </p:grpSp>
      <p:sp>
        <p:nvSpPr>
          <p:cNvPr name="AutoShape 5" id="5"/>
          <p:cNvSpPr/>
          <p:nvPr/>
        </p:nvSpPr>
        <p:spPr>
          <a:xfrm flipV="true">
            <a:off x="704541" y="3728268"/>
            <a:ext cx="2812965" cy="0"/>
          </a:xfrm>
          <a:prstGeom prst="line">
            <a:avLst/>
          </a:prstGeom>
          <a:ln cap="flat" w="76200">
            <a:solidFill>
              <a:srgbClr val="EAE4D2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" id="6"/>
          <p:cNvGrpSpPr/>
          <p:nvPr/>
        </p:nvGrpSpPr>
        <p:grpSpPr>
          <a:xfrm rot="0">
            <a:off x="-967289" y="6921171"/>
            <a:ext cx="4674258" cy="4674258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76200" cap="sq">
              <a:solidFill>
                <a:srgbClr val="EAE4D2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7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-492056" y="5521076"/>
            <a:ext cx="2660799" cy="2660799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AE4D2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79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6292143" y="569425"/>
            <a:ext cx="11424839" cy="9148150"/>
          </a:xfrm>
          <a:custGeom>
            <a:avLst/>
            <a:gdLst/>
            <a:ahLst/>
            <a:cxnLst/>
            <a:rect r="r" b="b" t="t" l="l"/>
            <a:pathLst>
              <a:path h="9148150" w="11424839">
                <a:moveTo>
                  <a:pt x="0" y="0"/>
                </a:moveTo>
                <a:lnTo>
                  <a:pt x="11424839" y="0"/>
                </a:lnTo>
                <a:lnTo>
                  <a:pt x="11424839" y="9148150"/>
                </a:lnTo>
                <a:lnTo>
                  <a:pt x="0" y="91481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704541" y="849016"/>
            <a:ext cx="4268658" cy="1844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40"/>
              </a:lnSpc>
            </a:pPr>
            <a:r>
              <a:rPr lang="en-US" sz="6800">
                <a:solidFill>
                  <a:srgbClr val="FFFFFF"/>
                </a:solidFill>
                <a:ea typeface="Inter Bold"/>
              </a:rPr>
              <a:t>프로젝트</a:t>
            </a:r>
          </a:p>
          <a:p>
            <a:pPr algn="l">
              <a:lnSpc>
                <a:spcPts val="7140"/>
              </a:lnSpc>
            </a:pPr>
            <a:r>
              <a:rPr lang="en-US" sz="6800">
                <a:solidFill>
                  <a:srgbClr val="FFFFFF"/>
                </a:solidFill>
                <a:ea typeface="Inter Bold"/>
              </a:rPr>
              <a:t>개괄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38692" y="3053673"/>
            <a:ext cx="4407581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</a:pPr>
            <a:r>
              <a:rPr lang="en-US" sz="2400" spc="177">
                <a:solidFill>
                  <a:srgbClr val="000000"/>
                </a:solidFill>
                <a:latin typeface="Open Sans Bold"/>
              </a:rPr>
              <a:t>SYSTEM OVERVIEW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400866" y="0"/>
            <a:ext cx="863406" cy="1914819"/>
            <a:chOff x="0" y="0"/>
            <a:chExt cx="227399" cy="50431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7399" cy="504314"/>
            </a:xfrm>
            <a:custGeom>
              <a:avLst/>
              <a:gdLst/>
              <a:ahLst/>
              <a:cxnLst/>
              <a:rect r="r" b="b" t="t" l="l"/>
              <a:pathLst>
                <a:path h="504314" w="227399">
                  <a:moveTo>
                    <a:pt x="0" y="0"/>
                  </a:moveTo>
                  <a:lnTo>
                    <a:pt x="227399" y="0"/>
                  </a:lnTo>
                  <a:lnTo>
                    <a:pt x="227399" y="504314"/>
                  </a:lnTo>
                  <a:lnTo>
                    <a:pt x="0" y="504314"/>
                  </a:lnTo>
                  <a:close/>
                </a:path>
              </a:pathLst>
            </a:custGeom>
            <a:solidFill>
              <a:srgbClr val="F47C3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227399" cy="5519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7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10094695"/>
            <a:ext cx="18264272" cy="192305"/>
            <a:chOff x="0" y="0"/>
            <a:chExt cx="4810343" cy="5064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810343" cy="50648"/>
            </a:xfrm>
            <a:custGeom>
              <a:avLst/>
              <a:gdLst/>
              <a:ahLst/>
              <a:cxnLst/>
              <a:rect r="r" b="b" t="t" l="l"/>
              <a:pathLst>
                <a:path h="50648" w="4810343">
                  <a:moveTo>
                    <a:pt x="0" y="0"/>
                  </a:moveTo>
                  <a:lnTo>
                    <a:pt x="4810343" y="0"/>
                  </a:lnTo>
                  <a:lnTo>
                    <a:pt x="4810343" y="50648"/>
                  </a:lnTo>
                  <a:lnTo>
                    <a:pt x="0" y="50648"/>
                  </a:lnTo>
                  <a:close/>
                </a:path>
              </a:pathLst>
            </a:custGeom>
            <a:solidFill>
              <a:srgbClr val="F47C32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4810343" cy="982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7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839945" y="552744"/>
            <a:ext cx="5070767" cy="939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40"/>
              </a:lnSpc>
            </a:pPr>
            <a:r>
              <a:rPr lang="en-US" sz="6800">
                <a:solidFill>
                  <a:srgbClr val="F47C32"/>
                </a:solidFill>
                <a:ea typeface="Inter Bold"/>
              </a:rPr>
              <a:t>프로젝트 상세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157144" y="936601"/>
            <a:ext cx="2487759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</a:pPr>
            <a:r>
              <a:rPr lang="en-US" sz="2400" spc="177">
                <a:solidFill>
                  <a:srgbClr val="000000"/>
                </a:solidFill>
                <a:latin typeface="Open Sans Bold"/>
              </a:rPr>
              <a:t>SYSTEM FLOW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3898380" y="-3453244"/>
            <a:ext cx="4674258" cy="4674258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76200" cap="sq">
              <a:solidFill>
                <a:srgbClr val="EAE4D2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79"/>
                </a:lnSpc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1899306" y="1734322"/>
            <a:ext cx="14489388" cy="8117960"/>
          </a:xfrm>
          <a:custGeom>
            <a:avLst/>
            <a:gdLst/>
            <a:ahLst/>
            <a:cxnLst/>
            <a:rect r="r" b="b" t="t" l="l"/>
            <a:pathLst>
              <a:path h="8117960" w="14489388">
                <a:moveTo>
                  <a:pt x="0" y="0"/>
                </a:moveTo>
                <a:lnTo>
                  <a:pt x="14489388" y="0"/>
                </a:lnTo>
                <a:lnTo>
                  <a:pt x="14489388" y="8117960"/>
                </a:lnTo>
                <a:lnTo>
                  <a:pt x="0" y="811796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9309161" cy="10287000"/>
            <a:chOff x="0" y="0"/>
            <a:chExt cx="2451795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51795" cy="2709333"/>
            </a:xfrm>
            <a:custGeom>
              <a:avLst/>
              <a:gdLst/>
              <a:ahLst/>
              <a:cxnLst/>
              <a:rect r="r" b="b" t="t" l="l"/>
              <a:pathLst>
                <a:path h="2709333" w="2451795">
                  <a:moveTo>
                    <a:pt x="0" y="0"/>
                  </a:moveTo>
                  <a:lnTo>
                    <a:pt x="2451795" y="0"/>
                  </a:lnTo>
                  <a:lnTo>
                    <a:pt x="2451795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47C3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2451795" cy="2756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79"/>
                </a:lnSpc>
              </a:pPr>
            </a:p>
          </p:txBody>
        </p:sp>
      </p:grpSp>
      <p:sp>
        <p:nvSpPr>
          <p:cNvPr name="AutoShape 5" id="5"/>
          <p:cNvSpPr/>
          <p:nvPr/>
        </p:nvSpPr>
        <p:spPr>
          <a:xfrm>
            <a:off x="1028700" y="2989593"/>
            <a:ext cx="2165447" cy="0"/>
          </a:xfrm>
          <a:prstGeom prst="line">
            <a:avLst/>
          </a:prstGeom>
          <a:ln cap="flat" w="76200">
            <a:solidFill>
              <a:srgbClr val="EAE4D2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" id="6"/>
          <p:cNvGrpSpPr/>
          <p:nvPr/>
        </p:nvGrpSpPr>
        <p:grpSpPr>
          <a:xfrm rot="0">
            <a:off x="10096657" y="601748"/>
            <a:ext cx="4476783" cy="553720"/>
            <a:chOff x="0" y="0"/>
            <a:chExt cx="1179071" cy="14583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179070" cy="145836"/>
            </a:xfrm>
            <a:custGeom>
              <a:avLst/>
              <a:gdLst/>
              <a:ahLst/>
              <a:cxnLst/>
              <a:rect r="r" b="b" t="t" l="l"/>
              <a:pathLst>
                <a:path h="145836" w="1179070">
                  <a:moveTo>
                    <a:pt x="72918" y="0"/>
                  </a:moveTo>
                  <a:lnTo>
                    <a:pt x="1106153" y="0"/>
                  </a:lnTo>
                  <a:cubicBezTo>
                    <a:pt x="1146424" y="0"/>
                    <a:pt x="1179070" y="32646"/>
                    <a:pt x="1179070" y="72918"/>
                  </a:cubicBezTo>
                  <a:lnTo>
                    <a:pt x="1179070" y="72918"/>
                  </a:lnTo>
                  <a:cubicBezTo>
                    <a:pt x="1179070" y="113189"/>
                    <a:pt x="1146424" y="145836"/>
                    <a:pt x="1106153" y="145836"/>
                  </a:cubicBezTo>
                  <a:lnTo>
                    <a:pt x="72918" y="145836"/>
                  </a:lnTo>
                  <a:cubicBezTo>
                    <a:pt x="32646" y="145836"/>
                    <a:pt x="0" y="113189"/>
                    <a:pt x="0" y="72918"/>
                  </a:cubicBezTo>
                  <a:lnTo>
                    <a:pt x="0" y="72918"/>
                  </a:lnTo>
                  <a:cubicBezTo>
                    <a:pt x="0" y="32646"/>
                    <a:pt x="32646" y="0"/>
                    <a:pt x="72918" y="0"/>
                  </a:cubicBezTo>
                  <a:close/>
                </a:path>
              </a:pathLst>
            </a:custGeom>
            <a:solidFill>
              <a:srgbClr val="F47C32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179071" cy="1839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  <a:r>
                <a:rPr lang="en-US" sz="2199">
                  <a:solidFill>
                    <a:srgbClr val="FFFFFF"/>
                  </a:solidFill>
                  <a:latin typeface="Inter Bold"/>
                  <a:ea typeface="Inter Bold"/>
                </a:rPr>
                <a:t>아웃리치 진행 전 &amp; 후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0096657" y="4295767"/>
            <a:ext cx="4476783" cy="553720"/>
            <a:chOff x="0" y="0"/>
            <a:chExt cx="1179071" cy="14583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179070" cy="145836"/>
            </a:xfrm>
            <a:custGeom>
              <a:avLst/>
              <a:gdLst/>
              <a:ahLst/>
              <a:cxnLst/>
              <a:rect r="r" b="b" t="t" l="l"/>
              <a:pathLst>
                <a:path h="145836" w="1179070">
                  <a:moveTo>
                    <a:pt x="72918" y="0"/>
                  </a:moveTo>
                  <a:lnTo>
                    <a:pt x="1106153" y="0"/>
                  </a:lnTo>
                  <a:cubicBezTo>
                    <a:pt x="1146424" y="0"/>
                    <a:pt x="1179070" y="32646"/>
                    <a:pt x="1179070" y="72918"/>
                  </a:cubicBezTo>
                  <a:lnTo>
                    <a:pt x="1179070" y="72918"/>
                  </a:lnTo>
                  <a:cubicBezTo>
                    <a:pt x="1179070" y="113189"/>
                    <a:pt x="1146424" y="145836"/>
                    <a:pt x="1106153" y="145836"/>
                  </a:cubicBezTo>
                  <a:lnTo>
                    <a:pt x="72918" y="145836"/>
                  </a:lnTo>
                  <a:cubicBezTo>
                    <a:pt x="32646" y="145836"/>
                    <a:pt x="0" y="113189"/>
                    <a:pt x="0" y="72918"/>
                  </a:cubicBezTo>
                  <a:lnTo>
                    <a:pt x="0" y="72918"/>
                  </a:lnTo>
                  <a:cubicBezTo>
                    <a:pt x="0" y="32646"/>
                    <a:pt x="32646" y="0"/>
                    <a:pt x="72918" y="0"/>
                  </a:cubicBezTo>
                  <a:close/>
                </a:path>
              </a:pathLst>
            </a:custGeom>
            <a:solidFill>
              <a:srgbClr val="F47C32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1179071" cy="1839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  <a:r>
                <a:rPr lang="en-US" sz="2199">
                  <a:solidFill>
                    <a:srgbClr val="FFFFFF"/>
                  </a:solidFill>
                  <a:ea typeface="Inter Bold"/>
                </a:rPr>
                <a:t>아웃리치 진행 중</a:t>
              </a: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15943972" y="2481030"/>
            <a:ext cx="888836" cy="888836"/>
          </a:xfrm>
          <a:custGeom>
            <a:avLst/>
            <a:gdLst/>
            <a:ahLst/>
            <a:cxnLst/>
            <a:rect r="r" b="b" t="t" l="l"/>
            <a:pathLst>
              <a:path h="888836" w="888836">
                <a:moveTo>
                  <a:pt x="0" y="0"/>
                </a:moveTo>
                <a:lnTo>
                  <a:pt x="888836" y="0"/>
                </a:lnTo>
                <a:lnTo>
                  <a:pt x="888836" y="888835"/>
                </a:lnTo>
                <a:lnTo>
                  <a:pt x="0" y="8888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0651255" y="2481030"/>
            <a:ext cx="888836" cy="888836"/>
          </a:xfrm>
          <a:custGeom>
            <a:avLst/>
            <a:gdLst/>
            <a:ahLst/>
            <a:cxnLst/>
            <a:rect r="r" b="b" t="t" l="l"/>
            <a:pathLst>
              <a:path h="888836" w="888836">
                <a:moveTo>
                  <a:pt x="0" y="0"/>
                </a:moveTo>
                <a:lnTo>
                  <a:pt x="888835" y="0"/>
                </a:lnTo>
                <a:lnTo>
                  <a:pt x="888835" y="888835"/>
                </a:lnTo>
                <a:lnTo>
                  <a:pt x="0" y="8888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3008630" y="2355228"/>
            <a:ext cx="1466803" cy="1140439"/>
          </a:xfrm>
          <a:custGeom>
            <a:avLst/>
            <a:gdLst/>
            <a:ahLst/>
            <a:cxnLst/>
            <a:rect r="r" b="b" t="t" l="l"/>
            <a:pathLst>
              <a:path h="1140439" w="1466803">
                <a:moveTo>
                  <a:pt x="0" y="0"/>
                </a:moveTo>
                <a:lnTo>
                  <a:pt x="1466803" y="0"/>
                </a:lnTo>
                <a:lnTo>
                  <a:pt x="1466803" y="1140439"/>
                </a:lnTo>
                <a:lnTo>
                  <a:pt x="0" y="114043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-5400000">
            <a:off x="12137440" y="2636909"/>
            <a:ext cx="273839" cy="577077"/>
            <a:chOff x="0" y="0"/>
            <a:chExt cx="365119" cy="769436"/>
          </a:xfrm>
        </p:grpSpPr>
        <p:grpSp>
          <p:nvGrpSpPr>
            <p:cNvPr name="Group 16" id="16"/>
            <p:cNvGrpSpPr/>
            <p:nvPr/>
          </p:nvGrpSpPr>
          <p:grpSpPr>
            <a:xfrm rot="0">
              <a:off x="0" y="143932"/>
              <a:ext cx="365119" cy="625504"/>
              <a:chOff x="0" y="0"/>
              <a:chExt cx="812800" cy="1392450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812800" cy="1392450"/>
              </a:xfrm>
              <a:custGeom>
                <a:avLst/>
                <a:gdLst/>
                <a:ahLst/>
                <a:cxnLst/>
                <a:rect r="r" b="b" t="t" l="l"/>
                <a:pathLst>
                  <a:path h="1392450" w="812800">
                    <a:moveTo>
                      <a:pt x="406400" y="1392450"/>
                    </a:moveTo>
                    <a:lnTo>
                      <a:pt x="0" y="986050"/>
                    </a:lnTo>
                    <a:lnTo>
                      <a:pt x="203200" y="986050"/>
                    </a:lnTo>
                    <a:lnTo>
                      <a:pt x="203200" y="0"/>
                    </a:lnTo>
                    <a:lnTo>
                      <a:pt x="609600" y="0"/>
                    </a:lnTo>
                    <a:lnTo>
                      <a:pt x="609600" y="986050"/>
                    </a:lnTo>
                    <a:lnTo>
                      <a:pt x="812800" y="986050"/>
                    </a:lnTo>
                    <a:lnTo>
                      <a:pt x="406400" y="1392450"/>
                    </a:lnTo>
                    <a:close/>
                  </a:path>
                </a:pathLst>
              </a:custGeom>
              <a:solidFill>
                <a:srgbClr val="F47C00"/>
              </a:solid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203200" y="-47625"/>
                <a:ext cx="406400" cy="13384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479"/>
                  </a:lnSpc>
                </a:pPr>
              </a:p>
            </p:txBody>
          </p:sp>
        </p:grpSp>
        <p:grpSp>
          <p:nvGrpSpPr>
            <p:cNvPr name="Group 19" id="19"/>
            <p:cNvGrpSpPr/>
            <p:nvPr/>
          </p:nvGrpSpPr>
          <p:grpSpPr>
            <a:xfrm rot="-10800000">
              <a:off x="0" y="0"/>
              <a:ext cx="365119" cy="625504"/>
              <a:chOff x="0" y="0"/>
              <a:chExt cx="812800" cy="1392450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812800" cy="1392450"/>
              </a:xfrm>
              <a:custGeom>
                <a:avLst/>
                <a:gdLst/>
                <a:ahLst/>
                <a:cxnLst/>
                <a:rect r="r" b="b" t="t" l="l"/>
                <a:pathLst>
                  <a:path h="1392450" w="812800">
                    <a:moveTo>
                      <a:pt x="406400" y="1392450"/>
                    </a:moveTo>
                    <a:lnTo>
                      <a:pt x="0" y="986050"/>
                    </a:lnTo>
                    <a:lnTo>
                      <a:pt x="203200" y="986050"/>
                    </a:lnTo>
                    <a:lnTo>
                      <a:pt x="203200" y="0"/>
                    </a:lnTo>
                    <a:lnTo>
                      <a:pt x="609600" y="0"/>
                    </a:lnTo>
                    <a:lnTo>
                      <a:pt x="609600" y="986050"/>
                    </a:lnTo>
                    <a:lnTo>
                      <a:pt x="812800" y="986050"/>
                    </a:lnTo>
                    <a:lnTo>
                      <a:pt x="406400" y="1392450"/>
                    </a:lnTo>
                    <a:close/>
                  </a:path>
                </a:pathLst>
              </a:custGeom>
              <a:solidFill>
                <a:srgbClr val="F47C00"/>
              </a:solidFill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203200" y="-47625"/>
                <a:ext cx="406400" cy="13384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479"/>
                  </a:lnSpc>
                </a:pPr>
              </a:p>
            </p:txBody>
          </p:sp>
        </p:grpSp>
      </p:grpSp>
      <p:grpSp>
        <p:nvGrpSpPr>
          <p:cNvPr name="Group 22" id="22"/>
          <p:cNvGrpSpPr/>
          <p:nvPr/>
        </p:nvGrpSpPr>
        <p:grpSpPr>
          <a:xfrm rot="-5400000">
            <a:off x="15074727" y="2636909"/>
            <a:ext cx="273839" cy="577077"/>
            <a:chOff x="0" y="0"/>
            <a:chExt cx="365119" cy="769436"/>
          </a:xfrm>
        </p:grpSpPr>
        <p:grpSp>
          <p:nvGrpSpPr>
            <p:cNvPr name="Group 23" id="23"/>
            <p:cNvGrpSpPr/>
            <p:nvPr/>
          </p:nvGrpSpPr>
          <p:grpSpPr>
            <a:xfrm rot="0">
              <a:off x="0" y="143932"/>
              <a:ext cx="365119" cy="625504"/>
              <a:chOff x="0" y="0"/>
              <a:chExt cx="812800" cy="1392450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812800" cy="1392450"/>
              </a:xfrm>
              <a:custGeom>
                <a:avLst/>
                <a:gdLst/>
                <a:ahLst/>
                <a:cxnLst/>
                <a:rect r="r" b="b" t="t" l="l"/>
                <a:pathLst>
                  <a:path h="1392450" w="812800">
                    <a:moveTo>
                      <a:pt x="406400" y="1392450"/>
                    </a:moveTo>
                    <a:lnTo>
                      <a:pt x="0" y="986050"/>
                    </a:lnTo>
                    <a:lnTo>
                      <a:pt x="203200" y="986050"/>
                    </a:lnTo>
                    <a:lnTo>
                      <a:pt x="203200" y="0"/>
                    </a:lnTo>
                    <a:lnTo>
                      <a:pt x="609600" y="0"/>
                    </a:lnTo>
                    <a:lnTo>
                      <a:pt x="609600" y="986050"/>
                    </a:lnTo>
                    <a:lnTo>
                      <a:pt x="812800" y="986050"/>
                    </a:lnTo>
                    <a:lnTo>
                      <a:pt x="406400" y="1392450"/>
                    </a:lnTo>
                    <a:close/>
                  </a:path>
                </a:pathLst>
              </a:custGeom>
              <a:solidFill>
                <a:srgbClr val="F47C00"/>
              </a:solidFill>
            </p:spPr>
          </p:sp>
          <p:sp>
            <p:nvSpPr>
              <p:cNvPr name="TextBox 25" id="25"/>
              <p:cNvSpPr txBox="true"/>
              <p:nvPr/>
            </p:nvSpPr>
            <p:spPr>
              <a:xfrm>
                <a:off x="203200" y="-47625"/>
                <a:ext cx="406400" cy="13384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479"/>
                  </a:lnSpc>
                </a:pPr>
              </a:p>
            </p:txBody>
          </p:sp>
        </p:grpSp>
        <p:grpSp>
          <p:nvGrpSpPr>
            <p:cNvPr name="Group 26" id="26"/>
            <p:cNvGrpSpPr/>
            <p:nvPr/>
          </p:nvGrpSpPr>
          <p:grpSpPr>
            <a:xfrm rot="-10800000">
              <a:off x="0" y="0"/>
              <a:ext cx="365119" cy="625504"/>
              <a:chOff x="0" y="0"/>
              <a:chExt cx="812800" cy="1392450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812800" cy="1392450"/>
              </a:xfrm>
              <a:custGeom>
                <a:avLst/>
                <a:gdLst/>
                <a:ahLst/>
                <a:cxnLst/>
                <a:rect r="r" b="b" t="t" l="l"/>
                <a:pathLst>
                  <a:path h="1392450" w="812800">
                    <a:moveTo>
                      <a:pt x="406400" y="1392450"/>
                    </a:moveTo>
                    <a:lnTo>
                      <a:pt x="0" y="986050"/>
                    </a:lnTo>
                    <a:lnTo>
                      <a:pt x="203200" y="986050"/>
                    </a:lnTo>
                    <a:lnTo>
                      <a:pt x="203200" y="0"/>
                    </a:lnTo>
                    <a:lnTo>
                      <a:pt x="609600" y="0"/>
                    </a:lnTo>
                    <a:lnTo>
                      <a:pt x="609600" y="986050"/>
                    </a:lnTo>
                    <a:lnTo>
                      <a:pt x="812800" y="986050"/>
                    </a:lnTo>
                    <a:lnTo>
                      <a:pt x="406400" y="1392450"/>
                    </a:lnTo>
                    <a:close/>
                  </a:path>
                </a:pathLst>
              </a:custGeom>
              <a:solidFill>
                <a:srgbClr val="F47C00"/>
              </a:solidFill>
            </p:spPr>
          </p:sp>
          <p:sp>
            <p:nvSpPr>
              <p:cNvPr name="TextBox 28" id="28"/>
              <p:cNvSpPr txBox="true"/>
              <p:nvPr/>
            </p:nvSpPr>
            <p:spPr>
              <a:xfrm>
                <a:off x="203200" y="-47625"/>
                <a:ext cx="406400" cy="13384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479"/>
                  </a:lnSpc>
                </a:pPr>
              </a:p>
            </p:txBody>
          </p:sp>
        </p:grpSp>
      </p:grpSp>
      <p:sp>
        <p:nvSpPr>
          <p:cNvPr name="TextBox 29" id="29"/>
          <p:cNvSpPr txBox="true"/>
          <p:nvPr/>
        </p:nvSpPr>
        <p:spPr>
          <a:xfrm rot="0">
            <a:off x="10096657" y="5306687"/>
            <a:ext cx="7162643" cy="2866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31803" indent="-215901" lvl="1">
              <a:lnSpc>
                <a:spcPts val="31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ea typeface="Open Sans"/>
              </a:rPr>
              <a:t>성별에 따른 노숙인 인원 파악을 위한 </a:t>
            </a:r>
            <a:r>
              <a:rPr lang="en-US" sz="2000">
                <a:solidFill>
                  <a:srgbClr val="000000"/>
                </a:solidFill>
                <a:ea typeface="Open Sans Bold"/>
              </a:rPr>
              <a:t>카운팅 테이블 기능</a:t>
            </a:r>
          </a:p>
          <a:p>
            <a:pPr algn="just">
              <a:lnSpc>
                <a:spcPts val="3100"/>
              </a:lnSpc>
            </a:pPr>
          </a:p>
          <a:p>
            <a:pPr algn="just">
              <a:lnSpc>
                <a:spcPts val="3100"/>
              </a:lnSpc>
            </a:pPr>
          </a:p>
          <a:p>
            <a:pPr algn="just">
              <a:lnSpc>
                <a:spcPts val="3100"/>
              </a:lnSpc>
            </a:pPr>
          </a:p>
          <a:p>
            <a:pPr algn="just">
              <a:lnSpc>
                <a:spcPts val="3100"/>
              </a:lnSpc>
            </a:pPr>
          </a:p>
          <a:p>
            <a:pPr algn="just">
              <a:lnSpc>
                <a:spcPts val="3100"/>
              </a:lnSpc>
            </a:pPr>
          </a:p>
          <a:p>
            <a:pPr algn="just">
              <a:lnSpc>
                <a:spcPts val="1240"/>
              </a:lnSpc>
            </a:pPr>
          </a:p>
          <a:p>
            <a:pPr algn="just" marL="431803" indent="-215901" lvl="1">
              <a:lnSpc>
                <a:spcPts val="31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ea typeface="Open Sans"/>
              </a:rPr>
              <a:t>신속한 노숙인 개별 문진을 위한 </a:t>
            </a:r>
            <a:r>
              <a:rPr lang="en-US" sz="2000">
                <a:solidFill>
                  <a:srgbClr val="000000"/>
                </a:solidFill>
                <a:ea typeface="Open Sans Bold"/>
              </a:rPr>
              <a:t>상담내역 기록 기능</a:t>
            </a:r>
          </a:p>
        </p:txBody>
      </p:sp>
      <p:sp>
        <p:nvSpPr>
          <p:cNvPr name="Freeform 30" id="30"/>
          <p:cNvSpPr/>
          <p:nvPr/>
        </p:nvSpPr>
        <p:spPr>
          <a:xfrm flipH="false" flipV="false" rot="0">
            <a:off x="14780440" y="6173462"/>
            <a:ext cx="2197647" cy="1014638"/>
          </a:xfrm>
          <a:custGeom>
            <a:avLst/>
            <a:gdLst/>
            <a:ahLst/>
            <a:cxnLst/>
            <a:rect r="r" b="b" t="t" l="l"/>
            <a:pathLst>
              <a:path h="1014638" w="2197647">
                <a:moveTo>
                  <a:pt x="0" y="0"/>
                </a:moveTo>
                <a:lnTo>
                  <a:pt x="2197646" y="0"/>
                </a:lnTo>
                <a:lnTo>
                  <a:pt x="2197646" y="1014637"/>
                </a:lnTo>
                <a:lnTo>
                  <a:pt x="0" y="101463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1" id="31"/>
          <p:cNvGrpSpPr/>
          <p:nvPr/>
        </p:nvGrpSpPr>
        <p:grpSpPr>
          <a:xfrm rot="0">
            <a:off x="12392130" y="6530657"/>
            <a:ext cx="1660803" cy="300247"/>
            <a:chOff x="0" y="0"/>
            <a:chExt cx="2214404" cy="400329"/>
          </a:xfrm>
        </p:grpSpPr>
        <p:grpSp>
          <p:nvGrpSpPr>
            <p:cNvPr name="Group 32" id="32"/>
            <p:cNvGrpSpPr/>
            <p:nvPr/>
          </p:nvGrpSpPr>
          <p:grpSpPr>
            <a:xfrm rot="-5400000">
              <a:off x="1671327" y="-142748"/>
              <a:ext cx="400329" cy="685825"/>
              <a:chOff x="0" y="0"/>
              <a:chExt cx="812800" cy="1392450"/>
            </a:xfrm>
          </p:grpSpPr>
          <p:sp>
            <p:nvSpPr>
              <p:cNvPr name="Freeform 33" id="33"/>
              <p:cNvSpPr/>
              <p:nvPr/>
            </p:nvSpPr>
            <p:spPr>
              <a:xfrm flipH="false" flipV="false" rot="0">
                <a:off x="0" y="0"/>
                <a:ext cx="812800" cy="1392450"/>
              </a:xfrm>
              <a:custGeom>
                <a:avLst/>
                <a:gdLst/>
                <a:ahLst/>
                <a:cxnLst/>
                <a:rect r="r" b="b" t="t" l="l"/>
                <a:pathLst>
                  <a:path h="1392450" w="812800">
                    <a:moveTo>
                      <a:pt x="406400" y="1392450"/>
                    </a:moveTo>
                    <a:lnTo>
                      <a:pt x="0" y="986050"/>
                    </a:lnTo>
                    <a:lnTo>
                      <a:pt x="203200" y="986050"/>
                    </a:lnTo>
                    <a:lnTo>
                      <a:pt x="203200" y="0"/>
                    </a:lnTo>
                    <a:lnTo>
                      <a:pt x="609600" y="0"/>
                    </a:lnTo>
                    <a:lnTo>
                      <a:pt x="609600" y="986050"/>
                    </a:lnTo>
                    <a:lnTo>
                      <a:pt x="812800" y="986050"/>
                    </a:lnTo>
                    <a:lnTo>
                      <a:pt x="406400" y="1392450"/>
                    </a:lnTo>
                    <a:close/>
                  </a:path>
                </a:pathLst>
              </a:custGeom>
              <a:solidFill>
                <a:srgbClr val="F47C00"/>
              </a:solidFill>
            </p:spPr>
          </p:sp>
          <p:sp>
            <p:nvSpPr>
              <p:cNvPr name="TextBox 34" id="34"/>
              <p:cNvSpPr txBox="true"/>
              <p:nvPr/>
            </p:nvSpPr>
            <p:spPr>
              <a:xfrm>
                <a:off x="203200" y="-47625"/>
                <a:ext cx="406400" cy="1338475"/>
              </a:xfrm>
              <a:prstGeom prst="rect">
                <a:avLst/>
              </a:prstGeom>
            </p:spPr>
            <p:txBody>
              <a:bodyPr anchor="ctr" rtlCol="false" tIns="55699" lIns="55699" bIns="55699" rIns="55699"/>
              <a:lstStyle/>
              <a:p>
                <a:pPr algn="ctr">
                  <a:lnSpc>
                    <a:spcPts val="2480"/>
                  </a:lnSpc>
                </a:pPr>
              </a:p>
            </p:txBody>
          </p:sp>
        </p:grpSp>
        <p:grpSp>
          <p:nvGrpSpPr>
            <p:cNvPr name="Group 35" id="35"/>
            <p:cNvGrpSpPr/>
            <p:nvPr/>
          </p:nvGrpSpPr>
          <p:grpSpPr>
            <a:xfrm rot="5400000">
              <a:off x="812359" y="-812359"/>
              <a:ext cx="400329" cy="2025048"/>
              <a:chOff x="0" y="0"/>
              <a:chExt cx="812800" cy="4111513"/>
            </a:xfrm>
          </p:grpSpPr>
          <p:sp>
            <p:nvSpPr>
              <p:cNvPr name="Freeform 36" id="36"/>
              <p:cNvSpPr/>
              <p:nvPr/>
            </p:nvSpPr>
            <p:spPr>
              <a:xfrm flipH="false" flipV="false" rot="0">
                <a:off x="0" y="0"/>
                <a:ext cx="812800" cy="4111513"/>
              </a:xfrm>
              <a:custGeom>
                <a:avLst/>
                <a:gdLst/>
                <a:ahLst/>
                <a:cxnLst/>
                <a:rect r="r" b="b" t="t" l="l"/>
                <a:pathLst>
                  <a:path h="4111513" w="812800">
                    <a:moveTo>
                      <a:pt x="406400" y="4111513"/>
                    </a:moveTo>
                    <a:lnTo>
                      <a:pt x="0" y="3705113"/>
                    </a:lnTo>
                    <a:lnTo>
                      <a:pt x="203200" y="3705113"/>
                    </a:lnTo>
                    <a:lnTo>
                      <a:pt x="203200" y="0"/>
                    </a:lnTo>
                    <a:lnTo>
                      <a:pt x="609600" y="0"/>
                    </a:lnTo>
                    <a:lnTo>
                      <a:pt x="609600" y="3705113"/>
                    </a:lnTo>
                    <a:lnTo>
                      <a:pt x="812800" y="3705113"/>
                    </a:lnTo>
                    <a:lnTo>
                      <a:pt x="406400" y="4111513"/>
                    </a:lnTo>
                    <a:close/>
                  </a:path>
                </a:pathLst>
              </a:custGeom>
              <a:solidFill>
                <a:srgbClr val="F47C00"/>
              </a:solidFill>
            </p:spPr>
          </p:sp>
          <p:sp>
            <p:nvSpPr>
              <p:cNvPr name="TextBox 37" id="37"/>
              <p:cNvSpPr txBox="true"/>
              <p:nvPr/>
            </p:nvSpPr>
            <p:spPr>
              <a:xfrm>
                <a:off x="203200" y="-47625"/>
                <a:ext cx="406400" cy="4057538"/>
              </a:xfrm>
              <a:prstGeom prst="rect">
                <a:avLst/>
              </a:prstGeom>
            </p:spPr>
            <p:txBody>
              <a:bodyPr anchor="ctr" rtlCol="false" tIns="55699" lIns="55699" bIns="55699" rIns="55699"/>
              <a:lstStyle/>
              <a:p>
                <a:pPr algn="ctr">
                  <a:lnSpc>
                    <a:spcPts val="2480"/>
                  </a:lnSpc>
                </a:pPr>
              </a:p>
            </p:txBody>
          </p:sp>
        </p:grpSp>
      </p:grpSp>
      <p:sp>
        <p:nvSpPr>
          <p:cNvPr name="Freeform 38" id="38"/>
          <p:cNvSpPr/>
          <p:nvPr/>
        </p:nvSpPr>
        <p:spPr>
          <a:xfrm flipH="false" flipV="false" rot="0">
            <a:off x="10651255" y="6173462"/>
            <a:ext cx="1013369" cy="1014638"/>
          </a:xfrm>
          <a:custGeom>
            <a:avLst/>
            <a:gdLst/>
            <a:ahLst/>
            <a:cxnLst/>
            <a:rect r="r" b="b" t="t" l="l"/>
            <a:pathLst>
              <a:path h="1014638" w="1013369">
                <a:moveTo>
                  <a:pt x="0" y="0"/>
                </a:moveTo>
                <a:lnTo>
                  <a:pt x="1013369" y="0"/>
                </a:lnTo>
                <a:lnTo>
                  <a:pt x="1013369" y="1014637"/>
                </a:lnTo>
                <a:lnTo>
                  <a:pt x="0" y="101463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9" id="39"/>
          <p:cNvSpPr/>
          <p:nvPr/>
        </p:nvSpPr>
        <p:spPr>
          <a:xfrm flipH="false" flipV="false" rot="0">
            <a:off x="10887913" y="6173462"/>
            <a:ext cx="540053" cy="778454"/>
          </a:xfrm>
          <a:custGeom>
            <a:avLst/>
            <a:gdLst/>
            <a:ahLst/>
            <a:cxnLst/>
            <a:rect r="r" b="b" t="t" l="l"/>
            <a:pathLst>
              <a:path h="778454" w="540053">
                <a:moveTo>
                  <a:pt x="0" y="0"/>
                </a:moveTo>
                <a:lnTo>
                  <a:pt x="540053" y="0"/>
                </a:lnTo>
                <a:lnTo>
                  <a:pt x="540053" y="778454"/>
                </a:lnTo>
                <a:lnTo>
                  <a:pt x="0" y="77845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0" id="40"/>
          <p:cNvSpPr/>
          <p:nvPr/>
        </p:nvSpPr>
        <p:spPr>
          <a:xfrm flipH="false" flipV="false" rot="0">
            <a:off x="10651255" y="8659974"/>
            <a:ext cx="888836" cy="888836"/>
          </a:xfrm>
          <a:custGeom>
            <a:avLst/>
            <a:gdLst/>
            <a:ahLst/>
            <a:cxnLst/>
            <a:rect r="r" b="b" t="t" l="l"/>
            <a:pathLst>
              <a:path h="888836" w="888836">
                <a:moveTo>
                  <a:pt x="0" y="0"/>
                </a:moveTo>
                <a:lnTo>
                  <a:pt x="888835" y="0"/>
                </a:lnTo>
                <a:lnTo>
                  <a:pt x="888835" y="888835"/>
                </a:lnTo>
                <a:lnTo>
                  <a:pt x="0" y="8888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1" id="41"/>
          <p:cNvSpPr/>
          <p:nvPr/>
        </p:nvSpPr>
        <p:spPr>
          <a:xfrm flipH="false" flipV="false" rot="0">
            <a:off x="11664624" y="8659974"/>
            <a:ext cx="651274" cy="888836"/>
          </a:xfrm>
          <a:custGeom>
            <a:avLst/>
            <a:gdLst/>
            <a:ahLst/>
            <a:cxnLst/>
            <a:rect r="r" b="b" t="t" l="l"/>
            <a:pathLst>
              <a:path h="888836" w="651274">
                <a:moveTo>
                  <a:pt x="0" y="0"/>
                </a:moveTo>
                <a:lnTo>
                  <a:pt x="651274" y="0"/>
                </a:lnTo>
                <a:lnTo>
                  <a:pt x="651274" y="888835"/>
                </a:lnTo>
                <a:lnTo>
                  <a:pt x="0" y="88883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2" id="42"/>
          <p:cNvGrpSpPr/>
          <p:nvPr/>
        </p:nvGrpSpPr>
        <p:grpSpPr>
          <a:xfrm rot="0">
            <a:off x="15366005" y="8534172"/>
            <a:ext cx="1466803" cy="1140439"/>
            <a:chOff x="0" y="0"/>
            <a:chExt cx="1955738" cy="1520586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955738" cy="1520586"/>
            </a:xfrm>
            <a:custGeom>
              <a:avLst/>
              <a:gdLst/>
              <a:ahLst/>
              <a:cxnLst/>
              <a:rect r="r" b="b" t="t" l="l"/>
              <a:pathLst>
                <a:path h="1520586" w="1955738">
                  <a:moveTo>
                    <a:pt x="0" y="0"/>
                  </a:moveTo>
                  <a:lnTo>
                    <a:pt x="1955738" y="0"/>
                  </a:lnTo>
                  <a:lnTo>
                    <a:pt x="1955738" y="1520586"/>
                  </a:lnTo>
                  <a:lnTo>
                    <a:pt x="0" y="15205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4" id="44"/>
            <p:cNvSpPr/>
            <p:nvPr/>
          </p:nvSpPr>
          <p:spPr>
            <a:xfrm flipH="false" flipV="false" rot="0">
              <a:off x="120809" y="502657"/>
              <a:ext cx="1647762" cy="850193"/>
            </a:xfrm>
            <a:custGeom>
              <a:avLst/>
              <a:gdLst/>
              <a:ahLst/>
              <a:cxnLst/>
              <a:rect r="r" b="b" t="t" l="l"/>
              <a:pathLst>
                <a:path h="850193" w="1647762">
                  <a:moveTo>
                    <a:pt x="0" y="0"/>
                  </a:moveTo>
                  <a:lnTo>
                    <a:pt x="1647762" y="0"/>
                  </a:lnTo>
                  <a:lnTo>
                    <a:pt x="1647762" y="850193"/>
                  </a:lnTo>
                  <a:lnTo>
                    <a:pt x="0" y="8501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-2401" t="-14528" r="0" b="-8656"/>
              </a:stretch>
            </a:blipFill>
          </p:spPr>
        </p:sp>
        <p:sp>
          <p:nvSpPr>
            <p:cNvPr name="Freeform 45" id="45"/>
            <p:cNvSpPr/>
            <p:nvPr/>
          </p:nvSpPr>
          <p:spPr>
            <a:xfrm flipH="false" flipV="false" rot="0">
              <a:off x="178612" y="607806"/>
              <a:ext cx="564478" cy="715397"/>
            </a:xfrm>
            <a:custGeom>
              <a:avLst/>
              <a:gdLst/>
              <a:ahLst/>
              <a:cxnLst/>
              <a:rect r="r" b="b" t="t" l="l"/>
              <a:pathLst>
                <a:path h="715397" w="564478">
                  <a:moveTo>
                    <a:pt x="0" y="0"/>
                  </a:moveTo>
                  <a:lnTo>
                    <a:pt x="564478" y="0"/>
                  </a:lnTo>
                  <a:lnTo>
                    <a:pt x="564478" y="715397"/>
                  </a:lnTo>
                  <a:lnTo>
                    <a:pt x="0" y="7153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>
                <a:extLst>
                  <a:ext uri="{96DAC541-7B7A-43D3-8B79-37D633B846F1}">
                    <asvg:svgBlip xmlns:asvg="http://schemas.microsoft.com/office/drawing/2016/SVG/main" r:embed="rId1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6" id="46"/>
            <p:cNvSpPr/>
            <p:nvPr/>
          </p:nvSpPr>
          <p:spPr>
            <a:xfrm flipH="false" flipV="false" rot="0">
              <a:off x="1067747" y="618195"/>
              <a:ext cx="705008" cy="705008"/>
            </a:xfrm>
            <a:custGeom>
              <a:avLst/>
              <a:gdLst/>
              <a:ahLst/>
              <a:cxnLst/>
              <a:rect r="r" b="b" t="t" l="l"/>
              <a:pathLst>
                <a:path h="705008" w="705008">
                  <a:moveTo>
                    <a:pt x="0" y="0"/>
                  </a:moveTo>
                  <a:lnTo>
                    <a:pt x="705008" y="0"/>
                  </a:lnTo>
                  <a:lnTo>
                    <a:pt x="705008" y="705008"/>
                  </a:lnTo>
                  <a:lnTo>
                    <a:pt x="0" y="7050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>
                <a:extLst>
                  <a:ext uri="{96DAC541-7B7A-43D3-8B79-37D633B846F1}">
                    <asvg:svgBlip xmlns:asvg="http://schemas.microsoft.com/office/drawing/2016/SVG/main" r:embed="rId18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7" id="47"/>
            <p:cNvSpPr/>
            <p:nvPr/>
          </p:nvSpPr>
          <p:spPr>
            <a:xfrm flipH="false" flipV="false" rot="0">
              <a:off x="576597" y="918969"/>
              <a:ext cx="736187" cy="404234"/>
            </a:xfrm>
            <a:custGeom>
              <a:avLst/>
              <a:gdLst/>
              <a:ahLst/>
              <a:cxnLst/>
              <a:rect r="r" b="b" t="t" l="l"/>
              <a:pathLst>
                <a:path h="404234" w="736187">
                  <a:moveTo>
                    <a:pt x="0" y="0"/>
                  </a:moveTo>
                  <a:lnTo>
                    <a:pt x="736187" y="0"/>
                  </a:lnTo>
                  <a:lnTo>
                    <a:pt x="736187" y="404234"/>
                  </a:lnTo>
                  <a:lnTo>
                    <a:pt x="0" y="40423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>
                <a:extLst>
                  <a:ext uri="{96DAC541-7B7A-43D3-8B79-37D633B846F1}">
                    <asvg:svgBlip xmlns:asvg="http://schemas.microsoft.com/office/drawing/2016/SVG/main" r:embed="rId20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48" id="48"/>
          <p:cNvSpPr txBox="true"/>
          <p:nvPr/>
        </p:nvSpPr>
        <p:spPr>
          <a:xfrm rot="0">
            <a:off x="1028700" y="1133475"/>
            <a:ext cx="6801189" cy="984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60"/>
              </a:lnSpc>
            </a:pPr>
            <a:r>
              <a:rPr lang="en-US" sz="7200">
                <a:solidFill>
                  <a:srgbClr val="FFFFFF"/>
                </a:solidFill>
                <a:ea typeface="Inter Bold"/>
              </a:rPr>
              <a:t>프로젝트 상세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039799" y="2317128"/>
            <a:ext cx="5735427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</a:pPr>
            <a:r>
              <a:rPr lang="en-US" sz="2400" spc="177">
                <a:solidFill>
                  <a:srgbClr val="000000"/>
                </a:solidFill>
                <a:latin typeface="Open Sans Bold"/>
                <a:ea typeface="Open Sans Bold"/>
              </a:rPr>
              <a:t>핵심 기능 3가지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0096657" y="1615208"/>
            <a:ext cx="6881429" cy="377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31802" indent="-215901" lvl="1">
              <a:lnSpc>
                <a:spcPts val="31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ea typeface="Open Sans"/>
              </a:rPr>
              <a:t>복지사 간 정보 공유를 위한</a:t>
            </a:r>
            <a:r>
              <a:rPr lang="en-US" sz="2000">
                <a:solidFill>
                  <a:srgbClr val="000000"/>
                </a:solidFill>
                <a:latin typeface="Open Sans Bold"/>
                <a:ea typeface="Open Sans Bold"/>
              </a:rPr>
              <a:t> 브리핑 허브 기능</a:t>
            </a:r>
          </a:p>
        </p:txBody>
      </p:sp>
      <p:grpSp>
        <p:nvGrpSpPr>
          <p:cNvPr name="Group 51" id="51"/>
          <p:cNvGrpSpPr/>
          <p:nvPr/>
        </p:nvGrpSpPr>
        <p:grpSpPr>
          <a:xfrm rot="0">
            <a:off x="13010550" y="8972322"/>
            <a:ext cx="1660803" cy="300247"/>
            <a:chOff x="0" y="0"/>
            <a:chExt cx="2214404" cy="400329"/>
          </a:xfrm>
        </p:grpSpPr>
        <p:grpSp>
          <p:nvGrpSpPr>
            <p:cNvPr name="Group 52" id="52"/>
            <p:cNvGrpSpPr/>
            <p:nvPr/>
          </p:nvGrpSpPr>
          <p:grpSpPr>
            <a:xfrm rot="-5400000">
              <a:off x="1671327" y="-142748"/>
              <a:ext cx="400329" cy="685825"/>
              <a:chOff x="0" y="0"/>
              <a:chExt cx="812800" cy="1392450"/>
            </a:xfrm>
          </p:grpSpPr>
          <p:sp>
            <p:nvSpPr>
              <p:cNvPr name="Freeform 53" id="53"/>
              <p:cNvSpPr/>
              <p:nvPr/>
            </p:nvSpPr>
            <p:spPr>
              <a:xfrm flipH="false" flipV="false" rot="0">
                <a:off x="0" y="0"/>
                <a:ext cx="812800" cy="1392450"/>
              </a:xfrm>
              <a:custGeom>
                <a:avLst/>
                <a:gdLst/>
                <a:ahLst/>
                <a:cxnLst/>
                <a:rect r="r" b="b" t="t" l="l"/>
                <a:pathLst>
                  <a:path h="1392450" w="812800">
                    <a:moveTo>
                      <a:pt x="406400" y="1392450"/>
                    </a:moveTo>
                    <a:lnTo>
                      <a:pt x="0" y="986050"/>
                    </a:lnTo>
                    <a:lnTo>
                      <a:pt x="203200" y="986050"/>
                    </a:lnTo>
                    <a:lnTo>
                      <a:pt x="203200" y="0"/>
                    </a:lnTo>
                    <a:lnTo>
                      <a:pt x="609600" y="0"/>
                    </a:lnTo>
                    <a:lnTo>
                      <a:pt x="609600" y="986050"/>
                    </a:lnTo>
                    <a:lnTo>
                      <a:pt x="812800" y="986050"/>
                    </a:lnTo>
                    <a:lnTo>
                      <a:pt x="406400" y="1392450"/>
                    </a:lnTo>
                    <a:close/>
                  </a:path>
                </a:pathLst>
              </a:custGeom>
              <a:solidFill>
                <a:srgbClr val="F47C00"/>
              </a:solidFill>
            </p:spPr>
          </p:sp>
          <p:sp>
            <p:nvSpPr>
              <p:cNvPr name="TextBox 54" id="54"/>
              <p:cNvSpPr txBox="true"/>
              <p:nvPr/>
            </p:nvSpPr>
            <p:spPr>
              <a:xfrm>
                <a:off x="203200" y="-47625"/>
                <a:ext cx="406400" cy="1338475"/>
              </a:xfrm>
              <a:prstGeom prst="rect">
                <a:avLst/>
              </a:prstGeom>
            </p:spPr>
            <p:txBody>
              <a:bodyPr anchor="ctr" rtlCol="false" tIns="55699" lIns="55699" bIns="55699" rIns="55699"/>
              <a:lstStyle/>
              <a:p>
                <a:pPr algn="ctr">
                  <a:lnSpc>
                    <a:spcPts val="2480"/>
                  </a:lnSpc>
                </a:pPr>
              </a:p>
            </p:txBody>
          </p:sp>
        </p:grpSp>
        <p:grpSp>
          <p:nvGrpSpPr>
            <p:cNvPr name="Group 55" id="55"/>
            <p:cNvGrpSpPr/>
            <p:nvPr/>
          </p:nvGrpSpPr>
          <p:grpSpPr>
            <a:xfrm rot="5400000">
              <a:off x="812359" y="-812359"/>
              <a:ext cx="400329" cy="2025048"/>
              <a:chOff x="0" y="0"/>
              <a:chExt cx="812800" cy="4111513"/>
            </a:xfrm>
          </p:grpSpPr>
          <p:sp>
            <p:nvSpPr>
              <p:cNvPr name="Freeform 56" id="56"/>
              <p:cNvSpPr/>
              <p:nvPr/>
            </p:nvSpPr>
            <p:spPr>
              <a:xfrm flipH="false" flipV="false" rot="0">
                <a:off x="0" y="0"/>
                <a:ext cx="812800" cy="4111513"/>
              </a:xfrm>
              <a:custGeom>
                <a:avLst/>
                <a:gdLst/>
                <a:ahLst/>
                <a:cxnLst/>
                <a:rect r="r" b="b" t="t" l="l"/>
                <a:pathLst>
                  <a:path h="4111513" w="812800">
                    <a:moveTo>
                      <a:pt x="406400" y="4111513"/>
                    </a:moveTo>
                    <a:lnTo>
                      <a:pt x="0" y="3705113"/>
                    </a:lnTo>
                    <a:lnTo>
                      <a:pt x="203200" y="3705113"/>
                    </a:lnTo>
                    <a:lnTo>
                      <a:pt x="203200" y="0"/>
                    </a:lnTo>
                    <a:lnTo>
                      <a:pt x="609600" y="0"/>
                    </a:lnTo>
                    <a:lnTo>
                      <a:pt x="609600" y="3705113"/>
                    </a:lnTo>
                    <a:lnTo>
                      <a:pt x="812800" y="3705113"/>
                    </a:lnTo>
                    <a:lnTo>
                      <a:pt x="406400" y="4111513"/>
                    </a:lnTo>
                    <a:close/>
                  </a:path>
                </a:pathLst>
              </a:custGeom>
              <a:solidFill>
                <a:srgbClr val="F47C00"/>
              </a:solidFill>
            </p:spPr>
          </p:sp>
          <p:sp>
            <p:nvSpPr>
              <p:cNvPr name="TextBox 57" id="57"/>
              <p:cNvSpPr txBox="true"/>
              <p:nvPr/>
            </p:nvSpPr>
            <p:spPr>
              <a:xfrm>
                <a:off x="203200" y="-47625"/>
                <a:ext cx="406400" cy="4057538"/>
              </a:xfrm>
              <a:prstGeom prst="rect">
                <a:avLst/>
              </a:prstGeom>
            </p:spPr>
            <p:txBody>
              <a:bodyPr anchor="ctr" rtlCol="false" tIns="55699" lIns="55699" bIns="55699" rIns="55699"/>
              <a:lstStyle/>
              <a:p>
                <a:pPr algn="ctr">
                  <a:lnSpc>
                    <a:spcPts val="2480"/>
                  </a:lnSpc>
                </a:pPr>
              </a:p>
            </p:txBody>
          </p:sp>
        </p:grpSp>
      </p:grpSp>
      <p:grpSp>
        <p:nvGrpSpPr>
          <p:cNvPr name="Group 58" id="58"/>
          <p:cNvGrpSpPr/>
          <p:nvPr/>
        </p:nvGrpSpPr>
        <p:grpSpPr>
          <a:xfrm rot="0">
            <a:off x="-967289" y="6921171"/>
            <a:ext cx="4674258" cy="4674258"/>
            <a:chOff x="0" y="0"/>
            <a:chExt cx="812800" cy="81280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76200" cap="sq">
              <a:solidFill>
                <a:srgbClr val="EAE4D2"/>
              </a:solidFill>
              <a:prstDash val="solid"/>
              <a:miter/>
            </a:ln>
          </p:spPr>
        </p:sp>
        <p:sp>
          <p:nvSpPr>
            <p:cNvPr name="TextBox 60" id="60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79"/>
                </a:lnSpc>
              </a:pP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-492056" y="5521076"/>
            <a:ext cx="2660799" cy="2660799"/>
            <a:chOff x="0" y="0"/>
            <a:chExt cx="812800" cy="81280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AE4D2"/>
            </a:solidFill>
          </p:spPr>
        </p:sp>
        <p:sp>
          <p:nvSpPr>
            <p:cNvPr name="TextBox 63" id="63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79"/>
                </a:lnSpc>
              </a:pPr>
            </a:p>
          </p:txBody>
        </p:sp>
      </p:grpSp>
      <p:sp>
        <p:nvSpPr>
          <p:cNvPr name="AutoShape 64" id="64"/>
          <p:cNvSpPr/>
          <p:nvPr/>
        </p:nvSpPr>
        <p:spPr>
          <a:xfrm flipV="true">
            <a:off x="1094548" y="2989593"/>
            <a:ext cx="2812965" cy="0"/>
          </a:xfrm>
          <a:prstGeom prst="line">
            <a:avLst/>
          </a:prstGeom>
          <a:ln cap="flat" w="76200">
            <a:solidFill>
              <a:srgbClr val="EAE4D2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8804106" cy="10287000"/>
            <a:chOff x="0" y="0"/>
            <a:chExt cx="2318777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18777" cy="2709333"/>
            </a:xfrm>
            <a:custGeom>
              <a:avLst/>
              <a:gdLst/>
              <a:ahLst/>
              <a:cxnLst/>
              <a:rect r="r" b="b" t="t" l="l"/>
              <a:pathLst>
                <a:path h="2709333" w="2318777">
                  <a:moveTo>
                    <a:pt x="0" y="0"/>
                  </a:moveTo>
                  <a:lnTo>
                    <a:pt x="2318777" y="0"/>
                  </a:lnTo>
                  <a:lnTo>
                    <a:pt x="2318777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47C3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2318777" cy="2756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7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1307661" y="1028700"/>
            <a:ext cx="4476783" cy="553720"/>
            <a:chOff x="0" y="0"/>
            <a:chExt cx="1179071" cy="14583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179070" cy="145836"/>
            </a:xfrm>
            <a:custGeom>
              <a:avLst/>
              <a:gdLst/>
              <a:ahLst/>
              <a:cxnLst/>
              <a:rect r="r" b="b" t="t" l="l"/>
              <a:pathLst>
                <a:path h="145836" w="1179070">
                  <a:moveTo>
                    <a:pt x="72918" y="0"/>
                  </a:moveTo>
                  <a:lnTo>
                    <a:pt x="1106153" y="0"/>
                  </a:lnTo>
                  <a:cubicBezTo>
                    <a:pt x="1146424" y="0"/>
                    <a:pt x="1179070" y="32646"/>
                    <a:pt x="1179070" y="72918"/>
                  </a:cubicBezTo>
                  <a:lnTo>
                    <a:pt x="1179070" y="72918"/>
                  </a:lnTo>
                  <a:cubicBezTo>
                    <a:pt x="1179070" y="113189"/>
                    <a:pt x="1146424" y="145836"/>
                    <a:pt x="1106153" y="145836"/>
                  </a:cubicBezTo>
                  <a:lnTo>
                    <a:pt x="72918" y="145836"/>
                  </a:lnTo>
                  <a:cubicBezTo>
                    <a:pt x="32646" y="145836"/>
                    <a:pt x="0" y="113189"/>
                    <a:pt x="0" y="72918"/>
                  </a:cubicBezTo>
                  <a:lnTo>
                    <a:pt x="0" y="72918"/>
                  </a:lnTo>
                  <a:cubicBezTo>
                    <a:pt x="0" y="32646"/>
                    <a:pt x="32646" y="0"/>
                    <a:pt x="72918" y="0"/>
                  </a:cubicBezTo>
                  <a:close/>
                </a:path>
              </a:pathLst>
            </a:custGeom>
            <a:solidFill>
              <a:srgbClr val="F47C32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179071" cy="1839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  <a:r>
                <a:rPr lang="en-US" sz="2199">
                  <a:solidFill>
                    <a:srgbClr val="FFFFFF"/>
                  </a:solidFill>
                  <a:latin typeface="Inter Bold"/>
                  <a:ea typeface="Inter Bold"/>
                </a:rPr>
                <a:t>아웃리치 진행 전 &amp; 후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3409134" y="2807669"/>
            <a:ext cx="273839" cy="577077"/>
            <a:chOff x="0" y="0"/>
            <a:chExt cx="365119" cy="769436"/>
          </a:xfrm>
        </p:grpSpPr>
        <p:grpSp>
          <p:nvGrpSpPr>
            <p:cNvPr name="Group 9" id="9"/>
            <p:cNvGrpSpPr/>
            <p:nvPr/>
          </p:nvGrpSpPr>
          <p:grpSpPr>
            <a:xfrm rot="0">
              <a:off x="0" y="143932"/>
              <a:ext cx="365119" cy="625504"/>
              <a:chOff x="0" y="0"/>
              <a:chExt cx="812800" cy="139245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812800" cy="1392450"/>
              </a:xfrm>
              <a:custGeom>
                <a:avLst/>
                <a:gdLst/>
                <a:ahLst/>
                <a:cxnLst/>
                <a:rect r="r" b="b" t="t" l="l"/>
                <a:pathLst>
                  <a:path h="1392450" w="812800">
                    <a:moveTo>
                      <a:pt x="406400" y="1392450"/>
                    </a:moveTo>
                    <a:lnTo>
                      <a:pt x="0" y="986050"/>
                    </a:lnTo>
                    <a:lnTo>
                      <a:pt x="203200" y="986050"/>
                    </a:lnTo>
                    <a:lnTo>
                      <a:pt x="203200" y="0"/>
                    </a:lnTo>
                    <a:lnTo>
                      <a:pt x="609600" y="0"/>
                    </a:lnTo>
                    <a:lnTo>
                      <a:pt x="609600" y="986050"/>
                    </a:lnTo>
                    <a:lnTo>
                      <a:pt x="812800" y="986050"/>
                    </a:lnTo>
                    <a:lnTo>
                      <a:pt x="406400" y="1392450"/>
                    </a:lnTo>
                    <a:close/>
                  </a:path>
                </a:pathLst>
              </a:custGeom>
              <a:solidFill>
                <a:srgbClr val="F47C00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203200" y="-47625"/>
                <a:ext cx="406400" cy="13384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479"/>
                  </a:lnSpc>
                </a:pPr>
              </a:p>
            </p:txBody>
          </p:sp>
        </p:grpSp>
        <p:grpSp>
          <p:nvGrpSpPr>
            <p:cNvPr name="Group 12" id="12"/>
            <p:cNvGrpSpPr/>
            <p:nvPr/>
          </p:nvGrpSpPr>
          <p:grpSpPr>
            <a:xfrm rot="-10800000">
              <a:off x="0" y="0"/>
              <a:ext cx="365119" cy="625504"/>
              <a:chOff x="0" y="0"/>
              <a:chExt cx="812800" cy="139245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812800" cy="1392450"/>
              </a:xfrm>
              <a:custGeom>
                <a:avLst/>
                <a:gdLst/>
                <a:ahLst/>
                <a:cxnLst/>
                <a:rect r="r" b="b" t="t" l="l"/>
                <a:pathLst>
                  <a:path h="1392450" w="812800">
                    <a:moveTo>
                      <a:pt x="406400" y="1392450"/>
                    </a:moveTo>
                    <a:lnTo>
                      <a:pt x="0" y="986050"/>
                    </a:lnTo>
                    <a:lnTo>
                      <a:pt x="203200" y="986050"/>
                    </a:lnTo>
                    <a:lnTo>
                      <a:pt x="203200" y="0"/>
                    </a:lnTo>
                    <a:lnTo>
                      <a:pt x="609600" y="0"/>
                    </a:lnTo>
                    <a:lnTo>
                      <a:pt x="609600" y="986050"/>
                    </a:lnTo>
                    <a:lnTo>
                      <a:pt x="812800" y="986050"/>
                    </a:lnTo>
                    <a:lnTo>
                      <a:pt x="406400" y="1392450"/>
                    </a:lnTo>
                    <a:close/>
                  </a:path>
                </a:pathLst>
              </a:custGeom>
              <a:solidFill>
                <a:srgbClr val="F47C00"/>
              </a:soli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203200" y="-47625"/>
                <a:ext cx="406400" cy="13384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479"/>
                  </a:lnSpc>
                </a:pPr>
              </a:p>
            </p:txBody>
          </p:sp>
        </p:grpSp>
      </p:grpSp>
      <p:sp>
        <p:nvSpPr>
          <p:cNvPr name="Freeform 15" id="15"/>
          <p:cNvSpPr/>
          <p:nvPr/>
        </p:nvSpPr>
        <p:spPr>
          <a:xfrm flipH="false" flipV="false" rot="0">
            <a:off x="9964732" y="4609996"/>
            <a:ext cx="7162643" cy="4648304"/>
          </a:xfrm>
          <a:custGeom>
            <a:avLst/>
            <a:gdLst/>
            <a:ahLst/>
            <a:cxnLst/>
            <a:rect r="r" b="b" t="t" l="l"/>
            <a:pathLst>
              <a:path h="4648304" w="7162643">
                <a:moveTo>
                  <a:pt x="0" y="0"/>
                </a:moveTo>
                <a:lnTo>
                  <a:pt x="7162642" y="0"/>
                </a:lnTo>
                <a:lnTo>
                  <a:pt x="7162642" y="4648304"/>
                </a:lnTo>
                <a:lnTo>
                  <a:pt x="0" y="46483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8804106" y="2086945"/>
            <a:ext cx="9483894" cy="377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00"/>
              </a:lnSpc>
            </a:pPr>
            <a:r>
              <a:rPr lang="en-US" sz="2000">
                <a:solidFill>
                  <a:srgbClr val="000000"/>
                </a:solidFill>
                <a:latin typeface="Open Sans Bold"/>
                <a:ea typeface="Open Sans Bold"/>
              </a:rPr>
              <a:t>아웃리치 진행 인원(사회복지사) 간 노숙인 정보 공유 및 브리핑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8804106" y="3651447"/>
            <a:ext cx="9483894" cy="3777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00"/>
              </a:lnSpc>
            </a:pPr>
            <a:r>
              <a:rPr lang="en-US" sz="2000">
                <a:solidFill>
                  <a:srgbClr val="000000"/>
                </a:solidFill>
                <a:ea typeface="Open Sans Bold"/>
              </a:rPr>
              <a:t>원활한 정보 쉐어링을 위한 게시판 형식의 허브 구현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-967289" y="6921171"/>
            <a:ext cx="4674258" cy="4674258"/>
            <a:chOff x="0" y="0"/>
            <a:chExt cx="812800" cy="812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76200" cap="sq">
              <a:solidFill>
                <a:srgbClr val="EAE4D2"/>
              </a:solidFill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79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-492056" y="5521076"/>
            <a:ext cx="2660799" cy="2660799"/>
            <a:chOff x="0" y="0"/>
            <a:chExt cx="812800" cy="812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AE4D2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79"/>
                </a:lnSpc>
              </a:pPr>
            </a:p>
          </p:txBody>
        </p:sp>
      </p:grpSp>
      <p:pic>
        <p:nvPicPr>
          <p:cNvPr name="Picture 24" id="24">
            <a:hlinkClick action="ppaction://media"/>
          </p:cNvPr>
          <p:cNvPicPr>
            <a:picLocks noChangeAspect="true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3"/>
          <a:srcRect l="0" t="715" r="793" b="715"/>
          <a:stretch>
            <a:fillRect/>
          </a:stretch>
        </p:blipFill>
        <p:spPr>
          <a:xfrm flipH="false" flipV="false" rot="0">
            <a:off x="1837600" y="0"/>
            <a:ext cx="5128906" cy="10287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dur="indefinite" restart="never" nodeType="tmRoot">
          <p:childTnLst>
            <p:video>
              <p:cMediaNode vol="100000">
                <p:cTn fill="hold" display="false">
                  <p:stCondLst>
                    <p:cond delay="indefinite"/>
                  </p:stCondLst>
                </p:cTn>
                <p:tgtEl>
                  <p:spTgt spid="24"/>
                </p:tgtEl>
              </p:cMediaNode>
            </p:video>
          </p:childTnLst>
        </p:cTn>
      </p:par>
    </p:tnLst>
  </p:timing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8804106" cy="10287000"/>
            <a:chOff x="0" y="0"/>
            <a:chExt cx="2318777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18777" cy="2709333"/>
            </a:xfrm>
            <a:custGeom>
              <a:avLst/>
              <a:gdLst/>
              <a:ahLst/>
              <a:cxnLst/>
              <a:rect r="r" b="b" t="t" l="l"/>
              <a:pathLst>
                <a:path h="2709333" w="2318777">
                  <a:moveTo>
                    <a:pt x="0" y="0"/>
                  </a:moveTo>
                  <a:lnTo>
                    <a:pt x="2318777" y="0"/>
                  </a:lnTo>
                  <a:lnTo>
                    <a:pt x="2318777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47C3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2318777" cy="2756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7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1307661" y="1028700"/>
            <a:ext cx="4476783" cy="553720"/>
            <a:chOff x="0" y="0"/>
            <a:chExt cx="1179071" cy="14583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179070" cy="145836"/>
            </a:xfrm>
            <a:custGeom>
              <a:avLst/>
              <a:gdLst/>
              <a:ahLst/>
              <a:cxnLst/>
              <a:rect r="r" b="b" t="t" l="l"/>
              <a:pathLst>
                <a:path h="145836" w="1179070">
                  <a:moveTo>
                    <a:pt x="72918" y="0"/>
                  </a:moveTo>
                  <a:lnTo>
                    <a:pt x="1106153" y="0"/>
                  </a:lnTo>
                  <a:cubicBezTo>
                    <a:pt x="1146424" y="0"/>
                    <a:pt x="1179070" y="32646"/>
                    <a:pt x="1179070" y="72918"/>
                  </a:cubicBezTo>
                  <a:lnTo>
                    <a:pt x="1179070" y="72918"/>
                  </a:lnTo>
                  <a:cubicBezTo>
                    <a:pt x="1179070" y="113189"/>
                    <a:pt x="1146424" y="145836"/>
                    <a:pt x="1106153" y="145836"/>
                  </a:cubicBezTo>
                  <a:lnTo>
                    <a:pt x="72918" y="145836"/>
                  </a:lnTo>
                  <a:cubicBezTo>
                    <a:pt x="32646" y="145836"/>
                    <a:pt x="0" y="113189"/>
                    <a:pt x="0" y="72918"/>
                  </a:cubicBezTo>
                  <a:lnTo>
                    <a:pt x="0" y="72918"/>
                  </a:lnTo>
                  <a:cubicBezTo>
                    <a:pt x="0" y="32646"/>
                    <a:pt x="32646" y="0"/>
                    <a:pt x="72918" y="0"/>
                  </a:cubicBezTo>
                  <a:close/>
                </a:path>
              </a:pathLst>
            </a:custGeom>
            <a:solidFill>
              <a:srgbClr val="F47C32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179071" cy="1839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  <a:r>
                <a:rPr lang="en-US" sz="2199">
                  <a:solidFill>
                    <a:srgbClr val="FFFFFF"/>
                  </a:solidFill>
                  <a:ea typeface="Inter Bold"/>
                </a:rPr>
                <a:t>아웃리치 진행 중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3409134" y="2976160"/>
            <a:ext cx="273839" cy="577077"/>
            <a:chOff x="0" y="0"/>
            <a:chExt cx="365119" cy="769436"/>
          </a:xfrm>
        </p:grpSpPr>
        <p:grpSp>
          <p:nvGrpSpPr>
            <p:cNvPr name="Group 9" id="9"/>
            <p:cNvGrpSpPr/>
            <p:nvPr/>
          </p:nvGrpSpPr>
          <p:grpSpPr>
            <a:xfrm rot="0">
              <a:off x="0" y="143932"/>
              <a:ext cx="365119" cy="625504"/>
              <a:chOff x="0" y="0"/>
              <a:chExt cx="812800" cy="139245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812800" cy="1392450"/>
              </a:xfrm>
              <a:custGeom>
                <a:avLst/>
                <a:gdLst/>
                <a:ahLst/>
                <a:cxnLst/>
                <a:rect r="r" b="b" t="t" l="l"/>
                <a:pathLst>
                  <a:path h="1392450" w="812800">
                    <a:moveTo>
                      <a:pt x="406400" y="1392450"/>
                    </a:moveTo>
                    <a:lnTo>
                      <a:pt x="0" y="986050"/>
                    </a:lnTo>
                    <a:lnTo>
                      <a:pt x="203200" y="986050"/>
                    </a:lnTo>
                    <a:lnTo>
                      <a:pt x="203200" y="0"/>
                    </a:lnTo>
                    <a:lnTo>
                      <a:pt x="609600" y="0"/>
                    </a:lnTo>
                    <a:lnTo>
                      <a:pt x="609600" y="986050"/>
                    </a:lnTo>
                    <a:lnTo>
                      <a:pt x="812800" y="986050"/>
                    </a:lnTo>
                    <a:lnTo>
                      <a:pt x="406400" y="1392450"/>
                    </a:lnTo>
                    <a:close/>
                  </a:path>
                </a:pathLst>
              </a:custGeom>
              <a:solidFill>
                <a:srgbClr val="F47C00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203200" y="-47625"/>
                <a:ext cx="406400" cy="13384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479"/>
                  </a:lnSpc>
                </a:pPr>
              </a:p>
            </p:txBody>
          </p:sp>
        </p:grpSp>
        <p:grpSp>
          <p:nvGrpSpPr>
            <p:cNvPr name="Group 12" id="12"/>
            <p:cNvGrpSpPr/>
            <p:nvPr/>
          </p:nvGrpSpPr>
          <p:grpSpPr>
            <a:xfrm rot="-10800000">
              <a:off x="0" y="0"/>
              <a:ext cx="365119" cy="625504"/>
              <a:chOff x="0" y="0"/>
              <a:chExt cx="812800" cy="139245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812800" cy="1392450"/>
              </a:xfrm>
              <a:custGeom>
                <a:avLst/>
                <a:gdLst/>
                <a:ahLst/>
                <a:cxnLst/>
                <a:rect r="r" b="b" t="t" l="l"/>
                <a:pathLst>
                  <a:path h="1392450" w="812800">
                    <a:moveTo>
                      <a:pt x="406400" y="1392450"/>
                    </a:moveTo>
                    <a:lnTo>
                      <a:pt x="0" y="986050"/>
                    </a:lnTo>
                    <a:lnTo>
                      <a:pt x="203200" y="986050"/>
                    </a:lnTo>
                    <a:lnTo>
                      <a:pt x="203200" y="0"/>
                    </a:lnTo>
                    <a:lnTo>
                      <a:pt x="609600" y="0"/>
                    </a:lnTo>
                    <a:lnTo>
                      <a:pt x="609600" y="986050"/>
                    </a:lnTo>
                    <a:lnTo>
                      <a:pt x="812800" y="986050"/>
                    </a:lnTo>
                    <a:lnTo>
                      <a:pt x="406400" y="1392450"/>
                    </a:lnTo>
                    <a:close/>
                  </a:path>
                </a:pathLst>
              </a:custGeom>
              <a:solidFill>
                <a:srgbClr val="F47C00"/>
              </a:soli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203200" y="-47625"/>
                <a:ext cx="406400" cy="13384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479"/>
                  </a:lnSpc>
                </a:pPr>
              </a:p>
            </p:txBody>
          </p:sp>
        </p:grpSp>
      </p:grpSp>
      <p:grpSp>
        <p:nvGrpSpPr>
          <p:cNvPr name="Group 15" id="15"/>
          <p:cNvGrpSpPr/>
          <p:nvPr/>
        </p:nvGrpSpPr>
        <p:grpSpPr>
          <a:xfrm rot="0">
            <a:off x="-967289" y="6921171"/>
            <a:ext cx="4674258" cy="4674258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76200" cap="sq">
              <a:solidFill>
                <a:srgbClr val="EAE4D2"/>
              </a:solidFill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79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-492056" y="5521076"/>
            <a:ext cx="2660799" cy="2660799"/>
            <a:chOff x="0" y="0"/>
            <a:chExt cx="812800" cy="812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AE4D2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79"/>
                </a:lnSpc>
              </a:pPr>
            </a:p>
          </p:txBody>
        </p:sp>
      </p:grpSp>
      <p:sp>
        <p:nvSpPr>
          <p:cNvPr name="Freeform 21" id="21"/>
          <p:cNvSpPr/>
          <p:nvPr/>
        </p:nvSpPr>
        <p:spPr>
          <a:xfrm flipH="false" flipV="false" rot="0">
            <a:off x="10231464" y="4950198"/>
            <a:ext cx="6629178" cy="4308102"/>
          </a:xfrm>
          <a:custGeom>
            <a:avLst/>
            <a:gdLst/>
            <a:ahLst/>
            <a:cxnLst/>
            <a:rect r="r" b="b" t="t" l="l"/>
            <a:pathLst>
              <a:path h="4308102" w="6629178">
                <a:moveTo>
                  <a:pt x="0" y="0"/>
                </a:moveTo>
                <a:lnTo>
                  <a:pt x="6629178" y="0"/>
                </a:lnTo>
                <a:lnTo>
                  <a:pt x="6629178" y="4308102"/>
                </a:lnTo>
                <a:lnTo>
                  <a:pt x="0" y="430810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pic>
        <p:nvPicPr>
          <p:cNvPr name="Picture 22" id="22">
            <a:hlinkClick action="ppaction://media"/>
          </p:cNvPr>
          <p:cNvPicPr>
            <a:picLocks noChangeAspect="true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3"/>
          <a:srcRect l="0" t="462" r="0" b="462"/>
          <a:stretch>
            <a:fillRect/>
          </a:stretch>
        </p:blipFill>
        <p:spPr>
          <a:xfrm flipH="false" flipV="false" rot="0">
            <a:off x="1830303" y="0"/>
            <a:ext cx="5143500" cy="10287000"/>
          </a:xfrm>
          <a:prstGeom prst="rect">
            <a:avLst/>
          </a:prstGeom>
        </p:spPr>
      </p:pic>
      <p:sp>
        <p:nvSpPr>
          <p:cNvPr name="TextBox 23" id="23"/>
          <p:cNvSpPr txBox="true"/>
          <p:nvPr/>
        </p:nvSpPr>
        <p:spPr>
          <a:xfrm rot="0">
            <a:off x="8804106" y="2255475"/>
            <a:ext cx="9483894" cy="3777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00"/>
              </a:lnSpc>
            </a:pPr>
            <a:r>
              <a:rPr lang="en-US" sz="2000">
                <a:solidFill>
                  <a:srgbClr val="000000"/>
                </a:solidFill>
                <a:ea typeface="Open Sans Bold"/>
              </a:rPr>
              <a:t>아웃리치 진행 시 노숙인별 면담 진행 후 내역 기록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8804106" y="3819976"/>
            <a:ext cx="9483894" cy="3777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00"/>
              </a:lnSpc>
            </a:pPr>
            <a:r>
              <a:rPr lang="en-US" sz="2000">
                <a:solidFill>
                  <a:srgbClr val="000000"/>
                </a:solidFill>
                <a:ea typeface="Open Sans Bold"/>
              </a:rPr>
              <a:t>체계적인 노숙인 개별 문진을 위한 상담기록 기능 구현</a:t>
            </a:r>
          </a:p>
        </p:txBody>
      </p:sp>
    </p:spTree>
  </p:cSld>
  <p:clrMapOvr>
    <a:masterClrMapping/>
  </p:clrMapOvr>
  <p:timing>
    <p:tnLst>
      <p:par>
        <p:cTn dur="indefinite" restart="never" nodeType="tmRoot">
          <p:childTnLst>
            <p:video>
              <p:cMediaNode vol="100000">
                <p:cTn fill="hold" display="false">
                  <p:stCondLst>
                    <p:cond delay="indefinite"/>
                  </p:stCondLst>
                </p:cTn>
                <p:tgtEl>
                  <p:spTgt spid="22"/>
                </p:tgtEl>
              </p:cMediaNode>
            </p:video>
          </p:childTnLst>
        </p:cTn>
      </p:par>
    </p:tnLst>
  </p:timing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8804106" cy="10287000"/>
            <a:chOff x="0" y="0"/>
            <a:chExt cx="2318777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18777" cy="2709333"/>
            </a:xfrm>
            <a:custGeom>
              <a:avLst/>
              <a:gdLst/>
              <a:ahLst/>
              <a:cxnLst/>
              <a:rect r="r" b="b" t="t" l="l"/>
              <a:pathLst>
                <a:path h="2709333" w="2318777">
                  <a:moveTo>
                    <a:pt x="0" y="0"/>
                  </a:moveTo>
                  <a:lnTo>
                    <a:pt x="2318777" y="0"/>
                  </a:lnTo>
                  <a:lnTo>
                    <a:pt x="2318777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47C3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2318777" cy="2756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7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1307661" y="1028700"/>
            <a:ext cx="4476783" cy="553720"/>
            <a:chOff x="0" y="0"/>
            <a:chExt cx="1179071" cy="14583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179070" cy="145836"/>
            </a:xfrm>
            <a:custGeom>
              <a:avLst/>
              <a:gdLst/>
              <a:ahLst/>
              <a:cxnLst/>
              <a:rect r="r" b="b" t="t" l="l"/>
              <a:pathLst>
                <a:path h="145836" w="1179070">
                  <a:moveTo>
                    <a:pt x="72918" y="0"/>
                  </a:moveTo>
                  <a:lnTo>
                    <a:pt x="1106153" y="0"/>
                  </a:lnTo>
                  <a:cubicBezTo>
                    <a:pt x="1146424" y="0"/>
                    <a:pt x="1179070" y="32646"/>
                    <a:pt x="1179070" y="72918"/>
                  </a:cubicBezTo>
                  <a:lnTo>
                    <a:pt x="1179070" y="72918"/>
                  </a:lnTo>
                  <a:cubicBezTo>
                    <a:pt x="1179070" y="113189"/>
                    <a:pt x="1146424" y="145836"/>
                    <a:pt x="1106153" y="145836"/>
                  </a:cubicBezTo>
                  <a:lnTo>
                    <a:pt x="72918" y="145836"/>
                  </a:lnTo>
                  <a:cubicBezTo>
                    <a:pt x="32646" y="145836"/>
                    <a:pt x="0" y="113189"/>
                    <a:pt x="0" y="72918"/>
                  </a:cubicBezTo>
                  <a:lnTo>
                    <a:pt x="0" y="72918"/>
                  </a:lnTo>
                  <a:cubicBezTo>
                    <a:pt x="0" y="32646"/>
                    <a:pt x="32646" y="0"/>
                    <a:pt x="72918" y="0"/>
                  </a:cubicBezTo>
                  <a:close/>
                </a:path>
              </a:pathLst>
            </a:custGeom>
            <a:solidFill>
              <a:srgbClr val="F47C32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179071" cy="1839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  <a:r>
                <a:rPr lang="en-US" sz="2199">
                  <a:solidFill>
                    <a:srgbClr val="FFFFFF"/>
                  </a:solidFill>
                  <a:ea typeface="Inter Bold"/>
                </a:rPr>
                <a:t>아웃리치 진행 중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3409134" y="2976160"/>
            <a:ext cx="273839" cy="577077"/>
            <a:chOff x="0" y="0"/>
            <a:chExt cx="365119" cy="769436"/>
          </a:xfrm>
        </p:grpSpPr>
        <p:grpSp>
          <p:nvGrpSpPr>
            <p:cNvPr name="Group 9" id="9"/>
            <p:cNvGrpSpPr/>
            <p:nvPr/>
          </p:nvGrpSpPr>
          <p:grpSpPr>
            <a:xfrm rot="0">
              <a:off x="0" y="143932"/>
              <a:ext cx="365119" cy="625504"/>
              <a:chOff x="0" y="0"/>
              <a:chExt cx="812800" cy="139245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812800" cy="1392450"/>
              </a:xfrm>
              <a:custGeom>
                <a:avLst/>
                <a:gdLst/>
                <a:ahLst/>
                <a:cxnLst/>
                <a:rect r="r" b="b" t="t" l="l"/>
                <a:pathLst>
                  <a:path h="1392450" w="812800">
                    <a:moveTo>
                      <a:pt x="406400" y="1392450"/>
                    </a:moveTo>
                    <a:lnTo>
                      <a:pt x="0" y="986050"/>
                    </a:lnTo>
                    <a:lnTo>
                      <a:pt x="203200" y="986050"/>
                    </a:lnTo>
                    <a:lnTo>
                      <a:pt x="203200" y="0"/>
                    </a:lnTo>
                    <a:lnTo>
                      <a:pt x="609600" y="0"/>
                    </a:lnTo>
                    <a:lnTo>
                      <a:pt x="609600" y="986050"/>
                    </a:lnTo>
                    <a:lnTo>
                      <a:pt x="812800" y="986050"/>
                    </a:lnTo>
                    <a:lnTo>
                      <a:pt x="406400" y="1392450"/>
                    </a:lnTo>
                    <a:close/>
                  </a:path>
                </a:pathLst>
              </a:custGeom>
              <a:solidFill>
                <a:srgbClr val="F47C00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203200" y="-47625"/>
                <a:ext cx="406400" cy="13384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479"/>
                  </a:lnSpc>
                </a:pPr>
              </a:p>
            </p:txBody>
          </p:sp>
        </p:grpSp>
        <p:grpSp>
          <p:nvGrpSpPr>
            <p:cNvPr name="Group 12" id="12"/>
            <p:cNvGrpSpPr/>
            <p:nvPr/>
          </p:nvGrpSpPr>
          <p:grpSpPr>
            <a:xfrm rot="-10800000">
              <a:off x="0" y="0"/>
              <a:ext cx="365119" cy="625504"/>
              <a:chOff x="0" y="0"/>
              <a:chExt cx="812800" cy="139245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812800" cy="1392450"/>
              </a:xfrm>
              <a:custGeom>
                <a:avLst/>
                <a:gdLst/>
                <a:ahLst/>
                <a:cxnLst/>
                <a:rect r="r" b="b" t="t" l="l"/>
                <a:pathLst>
                  <a:path h="1392450" w="812800">
                    <a:moveTo>
                      <a:pt x="406400" y="1392450"/>
                    </a:moveTo>
                    <a:lnTo>
                      <a:pt x="0" y="986050"/>
                    </a:lnTo>
                    <a:lnTo>
                      <a:pt x="203200" y="986050"/>
                    </a:lnTo>
                    <a:lnTo>
                      <a:pt x="203200" y="0"/>
                    </a:lnTo>
                    <a:lnTo>
                      <a:pt x="609600" y="0"/>
                    </a:lnTo>
                    <a:lnTo>
                      <a:pt x="609600" y="986050"/>
                    </a:lnTo>
                    <a:lnTo>
                      <a:pt x="812800" y="986050"/>
                    </a:lnTo>
                    <a:lnTo>
                      <a:pt x="406400" y="1392450"/>
                    </a:lnTo>
                    <a:close/>
                  </a:path>
                </a:pathLst>
              </a:custGeom>
              <a:solidFill>
                <a:srgbClr val="F47C00"/>
              </a:soli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203200" y="-47625"/>
                <a:ext cx="406400" cy="13384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479"/>
                  </a:lnSpc>
                </a:pPr>
              </a:p>
            </p:txBody>
          </p:sp>
        </p:grpSp>
      </p:grpSp>
      <p:grpSp>
        <p:nvGrpSpPr>
          <p:cNvPr name="Group 15" id="15"/>
          <p:cNvGrpSpPr/>
          <p:nvPr/>
        </p:nvGrpSpPr>
        <p:grpSpPr>
          <a:xfrm rot="0">
            <a:off x="-967289" y="6921171"/>
            <a:ext cx="4674258" cy="4674258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76200" cap="sq">
              <a:solidFill>
                <a:srgbClr val="EAE4D2"/>
              </a:solidFill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79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-492056" y="5521076"/>
            <a:ext cx="2660799" cy="2660799"/>
            <a:chOff x="0" y="0"/>
            <a:chExt cx="812800" cy="812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AE4D2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79"/>
                </a:lnSpc>
              </a:pPr>
            </a:p>
          </p:txBody>
        </p:sp>
      </p:grpSp>
      <p:sp>
        <p:nvSpPr>
          <p:cNvPr name="Freeform 21" id="21"/>
          <p:cNvSpPr/>
          <p:nvPr/>
        </p:nvSpPr>
        <p:spPr>
          <a:xfrm flipH="false" flipV="false" rot="0">
            <a:off x="9644579" y="5050986"/>
            <a:ext cx="7802948" cy="3969523"/>
          </a:xfrm>
          <a:custGeom>
            <a:avLst/>
            <a:gdLst/>
            <a:ahLst/>
            <a:cxnLst/>
            <a:rect r="r" b="b" t="t" l="l"/>
            <a:pathLst>
              <a:path h="3969523" w="7802948">
                <a:moveTo>
                  <a:pt x="0" y="0"/>
                </a:moveTo>
                <a:lnTo>
                  <a:pt x="7802948" y="0"/>
                </a:lnTo>
                <a:lnTo>
                  <a:pt x="7802948" y="3969522"/>
                </a:lnTo>
                <a:lnTo>
                  <a:pt x="0" y="396952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pic>
        <p:nvPicPr>
          <p:cNvPr name="Picture 22" id="22">
            <a:hlinkClick action="ppaction://media"/>
          </p:cNvPr>
          <p:cNvPicPr>
            <a:picLocks noChangeAspect="true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1854116" y="0"/>
            <a:ext cx="5095875" cy="10287000"/>
          </a:xfrm>
          <a:prstGeom prst="rect">
            <a:avLst/>
          </a:prstGeom>
        </p:spPr>
      </p:pic>
      <p:sp>
        <p:nvSpPr>
          <p:cNvPr name="TextBox 23" id="23"/>
          <p:cNvSpPr txBox="true"/>
          <p:nvPr/>
        </p:nvSpPr>
        <p:spPr>
          <a:xfrm rot="0">
            <a:off x="8804106" y="2255475"/>
            <a:ext cx="9483894" cy="3777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00"/>
              </a:lnSpc>
            </a:pPr>
            <a:r>
              <a:rPr lang="en-US" sz="2000">
                <a:solidFill>
                  <a:srgbClr val="000000"/>
                </a:solidFill>
                <a:ea typeface="Open Sans Bold"/>
              </a:rPr>
              <a:t>아웃리치 진행 시 성별에 따른 노숙인 인원 체크 작업 진행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8804106" y="3819976"/>
            <a:ext cx="9483894" cy="377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00"/>
              </a:lnSpc>
            </a:pPr>
            <a:r>
              <a:rPr lang="en-US" sz="2000">
                <a:solidFill>
                  <a:srgbClr val="000000"/>
                </a:solidFill>
                <a:ea typeface="Open Sans Bold"/>
              </a:rPr>
              <a:t>노숙인 성별에 따른 신속한 인원 파악을 위한 카운팅 테이블 구현</a:t>
            </a:r>
          </a:p>
        </p:txBody>
      </p:sp>
    </p:spTree>
  </p:cSld>
  <p:clrMapOvr>
    <a:masterClrMapping/>
  </p:clrMapOvr>
  <p:timing>
    <p:tnLst>
      <p:par>
        <p:cTn dur="indefinite" restart="never" nodeType="tmRoot">
          <p:childTnLst>
            <p:video>
              <p:cMediaNode vol="100000">
                <p:cTn fill="hold" display="false">
                  <p:stCondLst>
                    <p:cond delay="indefinite"/>
                  </p:stCondLst>
                </p:cTn>
                <p:tgtEl>
                  <p:spTgt spid="22"/>
                </p:tgtEl>
              </p:cMediaNode>
            </p:video>
          </p:childTnLst>
        </p:cTn>
      </p:par>
    </p:tnLst>
  </p:timing>
</p:sld>
</file>

<file path=ppt/slides/slide1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8804106" cy="10287000"/>
            <a:chOff x="0" y="0"/>
            <a:chExt cx="2318777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18777" cy="2709333"/>
            </a:xfrm>
            <a:custGeom>
              <a:avLst/>
              <a:gdLst/>
              <a:ahLst/>
              <a:cxnLst/>
              <a:rect r="r" b="b" t="t" l="l"/>
              <a:pathLst>
                <a:path h="2709333" w="2318777">
                  <a:moveTo>
                    <a:pt x="0" y="0"/>
                  </a:moveTo>
                  <a:lnTo>
                    <a:pt x="2318777" y="0"/>
                  </a:lnTo>
                  <a:lnTo>
                    <a:pt x="2318777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47C3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2318777" cy="2756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79"/>
                </a:lnSpc>
              </a:pPr>
            </a:p>
          </p:txBody>
        </p:sp>
      </p:grpSp>
      <p:sp>
        <p:nvSpPr>
          <p:cNvPr name="AutoShape 5" id="5"/>
          <p:cNvSpPr/>
          <p:nvPr/>
        </p:nvSpPr>
        <p:spPr>
          <a:xfrm>
            <a:off x="1028700" y="2989593"/>
            <a:ext cx="2165447" cy="0"/>
          </a:xfrm>
          <a:prstGeom prst="line">
            <a:avLst/>
          </a:prstGeom>
          <a:ln cap="flat" w="76200">
            <a:solidFill>
              <a:srgbClr val="EAE4D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1028700" y="1133475"/>
            <a:ext cx="6801189" cy="984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60"/>
              </a:lnSpc>
            </a:pPr>
            <a:r>
              <a:rPr lang="en-US" sz="7200">
                <a:solidFill>
                  <a:srgbClr val="FFFFFF"/>
                </a:solidFill>
                <a:ea typeface="Inter Bold"/>
              </a:rPr>
              <a:t>프로젝트 상세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39799" y="2317128"/>
            <a:ext cx="5735427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</a:pPr>
            <a:r>
              <a:rPr lang="en-US" sz="2400" spc="177">
                <a:solidFill>
                  <a:srgbClr val="000000"/>
                </a:solidFill>
                <a:ea typeface="Open Sans Bold"/>
              </a:rPr>
              <a:t>부가 기능 설명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-967289" y="6921171"/>
            <a:ext cx="4674258" cy="4674258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76200" cap="sq">
              <a:solidFill>
                <a:srgbClr val="EAE4D2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7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-492056" y="5521076"/>
            <a:ext cx="2660799" cy="2660799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AE4D2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79"/>
                </a:lnSpc>
              </a:pPr>
            </a:p>
          </p:txBody>
        </p:sp>
      </p:grpSp>
      <p:sp>
        <p:nvSpPr>
          <p:cNvPr name="AutoShape 14" id="14"/>
          <p:cNvSpPr/>
          <p:nvPr/>
        </p:nvSpPr>
        <p:spPr>
          <a:xfrm flipV="true">
            <a:off x="1094548" y="2989593"/>
            <a:ext cx="2812965" cy="0"/>
          </a:xfrm>
          <a:prstGeom prst="line">
            <a:avLst/>
          </a:prstGeom>
          <a:ln cap="flat" w="76200">
            <a:solidFill>
              <a:srgbClr val="EAE4D2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5" id="15"/>
          <p:cNvGrpSpPr/>
          <p:nvPr/>
        </p:nvGrpSpPr>
        <p:grpSpPr>
          <a:xfrm rot="0">
            <a:off x="9844634" y="1028700"/>
            <a:ext cx="5095385" cy="691187"/>
            <a:chOff x="0" y="0"/>
            <a:chExt cx="1341995" cy="182041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341995" cy="182041"/>
            </a:xfrm>
            <a:custGeom>
              <a:avLst/>
              <a:gdLst/>
              <a:ahLst/>
              <a:cxnLst/>
              <a:rect r="r" b="b" t="t" l="l"/>
              <a:pathLst>
                <a:path h="182041" w="1341995">
                  <a:moveTo>
                    <a:pt x="77489" y="0"/>
                  </a:moveTo>
                  <a:lnTo>
                    <a:pt x="1264505" y="0"/>
                  </a:lnTo>
                  <a:cubicBezTo>
                    <a:pt x="1285057" y="0"/>
                    <a:pt x="1304766" y="8164"/>
                    <a:pt x="1319298" y="22696"/>
                  </a:cubicBezTo>
                  <a:cubicBezTo>
                    <a:pt x="1333831" y="37228"/>
                    <a:pt x="1341995" y="56938"/>
                    <a:pt x="1341995" y="77489"/>
                  </a:cubicBezTo>
                  <a:lnTo>
                    <a:pt x="1341995" y="104552"/>
                  </a:lnTo>
                  <a:cubicBezTo>
                    <a:pt x="1341995" y="147348"/>
                    <a:pt x="1307301" y="182041"/>
                    <a:pt x="1264505" y="182041"/>
                  </a:cubicBezTo>
                  <a:lnTo>
                    <a:pt x="77489" y="182041"/>
                  </a:lnTo>
                  <a:cubicBezTo>
                    <a:pt x="56938" y="182041"/>
                    <a:pt x="37228" y="173877"/>
                    <a:pt x="22696" y="159345"/>
                  </a:cubicBezTo>
                  <a:cubicBezTo>
                    <a:pt x="8164" y="144813"/>
                    <a:pt x="0" y="125103"/>
                    <a:pt x="0" y="104552"/>
                  </a:cubicBezTo>
                  <a:lnTo>
                    <a:pt x="0" y="77489"/>
                  </a:lnTo>
                  <a:cubicBezTo>
                    <a:pt x="0" y="56938"/>
                    <a:pt x="8164" y="37228"/>
                    <a:pt x="22696" y="22696"/>
                  </a:cubicBezTo>
                  <a:cubicBezTo>
                    <a:pt x="37228" y="8164"/>
                    <a:pt x="56938" y="0"/>
                    <a:pt x="77489" y="0"/>
                  </a:cubicBezTo>
                  <a:close/>
                </a:path>
              </a:pathLst>
            </a:custGeom>
            <a:solidFill>
              <a:srgbClr val="F47C32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1341995" cy="2201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  <a:r>
                <a:rPr lang="en-US" sz="2499">
                  <a:solidFill>
                    <a:srgbClr val="FFFFFF"/>
                  </a:solidFill>
                  <a:ea typeface="Inter Bold"/>
                </a:rPr>
                <a:t>부가 기능 목록</a:t>
              </a: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9844634" y="2406335"/>
            <a:ext cx="6881429" cy="4523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61339" indent="-280669" lvl="1">
              <a:lnSpc>
                <a:spcPts val="4029"/>
              </a:lnSpc>
              <a:buFont typeface="Arial"/>
              <a:buChar char="•"/>
            </a:pPr>
            <a:r>
              <a:rPr lang="en-US" sz="2599">
                <a:solidFill>
                  <a:srgbClr val="000000"/>
                </a:solidFill>
                <a:latin typeface="Open Sans Bold"/>
                <a:ea typeface="Open Sans Bold"/>
              </a:rPr>
              <a:t>회원가입 &amp; 회원탈퇴</a:t>
            </a:r>
          </a:p>
          <a:p>
            <a:pPr algn="just">
              <a:lnSpc>
                <a:spcPts val="4029"/>
              </a:lnSpc>
            </a:pPr>
          </a:p>
          <a:p>
            <a:pPr algn="just" marL="561339" indent="-280669" lvl="1">
              <a:lnSpc>
                <a:spcPts val="4029"/>
              </a:lnSpc>
              <a:buFont typeface="Arial"/>
              <a:buChar char="•"/>
            </a:pPr>
            <a:r>
              <a:rPr lang="en-US" sz="2599">
                <a:solidFill>
                  <a:srgbClr val="000000"/>
                </a:solidFill>
                <a:latin typeface="Open Sans Bold"/>
                <a:ea typeface="Open Sans Bold"/>
              </a:rPr>
              <a:t>로그인 &amp; 로그아웃</a:t>
            </a:r>
          </a:p>
          <a:p>
            <a:pPr algn="just">
              <a:lnSpc>
                <a:spcPts val="4029"/>
              </a:lnSpc>
            </a:pPr>
          </a:p>
          <a:p>
            <a:pPr algn="just" marL="561339" indent="-280669" lvl="1">
              <a:lnSpc>
                <a:spcPts val="4029"/>
              </a:lnSpc>
              <a:buFont typeface="Arial"/>
              <a:buChar char="•"/>
            </a:pPr>
            <a:r>
              <a:rPr lang="en-US" sz="2599">
                <a:solidFill>
                  <a:srgbClr val="000000"/>
                </a:solidFill>
                <a:latin typeface="Open Sans Bold"/>
                <a:ea typeface="Open Sans Bold"/>
              </a:rPr>
              <a:t>통합 대시보드 &amp; 네비게이션 바</a:t>
            </a:r>
          </a:p>
          <a:p>
            <a:pPr algn="just">
              <a:lnSpc>
                <a:spcPts val="4029"/>
              </a:lnSpc>
            </a:pPr>
          </a:p>
          <a:p>
            <a:pPr algn="just" marL="561339" indent="-280669" lvl="1">
              <a:lnSpc>
                <a:spcPts val="4029"/>
              </a:lnSpc>
              <a:buFont typeface="Arial"/>
              <a:buChar char="•"/>
            </a:pPr>
            <a:r>
              <a:rPr lang="en-US" sz="2599">
                <a:solidFill>
                  <a:srgbClr val="000000"/>
                </a:solidFill>
                <a:ea typeface="Open Sans Bold"/>
              </a:rPr>
              <a:t>노숙인 프로필</a:t>
            </a:r>
          </a:p>
          <a:p>
            <a:pPr algn="just">
              <a:lnSpc>
                <a:spcPts val="4029"/>
              </a:lnSpc>
            </a:pPr>
          </a:p>
          <a:p>
            <a:pPr algn="just" marL="561339" indent="-280669" lvl="1">
              <a:lnSpc>
                <a:spcPts val="4029"/>
              </a:lnSpc>
              <a:buFont typeface="Arial"/>
              <a:buChar char="•"/>
            </a:pPr>
            <a:r>
              <a:rPr lang="en-US" sz="2599">
                <a:solidFill>
                  <a:srgbClr val="000000"/>
                </a:solidFill>
                <a:ea typeface="Open Sans Bold"/>
              </a:rPr>
              <a:t>이름을 알 수 없는 노숙인 모음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4825464" y="5521076"/>
            <a:ext cx="8596698" cy="8596698"/>
            <a:chOff x="0" y="0"/>
            <a:chExt cx="812800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AE4D2"/>
            </a:solidFill>
            <a:ln w="952500" cap="sq">
              <a:solidFill>
                <a:srgbClr val="F6F6F6"/>
              </a:solidFill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79"/>
                </a:lnSpc>
              </a:pPr>
            </a:p>
          </p:txBody>
        </p:sp>
      </p:grp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400866" y="0"/>
            <a:ext cx="863406" cy="1914819"/>
            <a:chOff x="0" y="0"/>
            <a:chExt cx="227399" cy="50431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7399" cy="504314"/>
            </a:xfrm>
            <a:custGeom>
              <a:avLst/>
              <a:gdLst/>
              <a:ahLst/>
              <a:cxnLst/>
              <a:rect r="r" b="b" t="t" l="l"/>
              <a:pathLst>
                <a:path h="504314" w="227399">
                  <a:moveTo>
                    <a:pt x="0" y="0"/>
                  </a:moveTo>
                  <a:lnTo>
                    <a:pt x="227399" y="0"/>
                  </a:lnTo>
                  <a:lnTo>
                    <a:pt x="227399" y="504314"/>
                  </a:lnTo>
                  <a:lnTo>
                    <a:pt x="0" y="504314"/>
                  </a:lnTo>
                  <a:close/>
                </a:path>
              </a:pathLst>
            </a:custGeom>
            <a:solidFill>
              <a:srgbClr val="F47C3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227399" cy="5519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7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10094695"/>
            <a:ext cx="18264272" cy="192305"/>
            <a:chOff x="0" y="0"/>
            <a:chExt cx="4810343" cy="5064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810343" cy="50648"/>
            </a:xfrm>
            <a:custGeom>
              <a:avLst/>
              <a:gdLst/>
              <a:ahLst/>
              <a:cxnLst/>
              <a:rect r="r" b="b" t="t" l="l"/>
              <a:pathLst>
                <a:path h="50648" w="4810343">
                  <a:moveTo>
                    <a:pt x="0" y="0"/>
                  </a:moveTo>
                  <a:lnTo>
                    <a:pt x="4810343" y="0"/>
                  </a:lnTo>
                  <a:lnTo>
                    <a:pt x="4810343" y="50648"/>
                  </a:lnTo>
                  <a:lnTo>
                    <a:pt x="0" y="50648"/>
                  </a:lnTo>
                  <a:close/>
                </a:path>
              </a:pathLst>
            </a:custGeom>
            <a:solidFill>
              <a:srgbClr val="F47C32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4810343" cy="982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7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3898380" y="-3453244"/>
            <a:ext cx="4674258" cy="4674258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76200" cap="sq">
              <a:solidFill>
                <a:srgbClr val="EAE4D2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7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839945" y="1914819"/>
            <a:ext cx="877649" cy="877649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AE4D2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44470" lIns="44470" bIns="44470" rIns="44470"/>
            <a:lstStyle/>
            <a:p>
              <a:pPr algn="ctr">
                <a:lnSpc>
                  <a:spcPts val="4199"/>
                </a:lnSpc>
              </a:pPr>
              <a:r>
                <a:rPr lang="en-US" sz="2999">
                  <a:solidFill>
                    <a:srgbClr val="F47C32"/>
                  </a:solidFill>
                  <a:latin typeface="Inter Bold"/>
                </a:rPr>
                <a:t>01</a:t>
              </a: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1239537" y="3420215"/>
            <a:ext cx="15808926" cy="6046732"/>
          </a:xfrm>
          <a:custGeom>
            <a:avLst/>
            <a:gdLst/>
            <a:ahLst/>
            <a:cxnLst/>
            <a:rect r="r" b="b" t="t" l="l"/>
            <a:pathLst>
              <a:path h="6046732" w="15808926">
                <a:moveTo>
                  <a:pt x="0" y="0"/>
                </a:moveTo>
                <a:lnTo>
                  <a:pt x="15808926" y="0"/>
                </a:lnTo>
                <a:lnTo>
                  <a:pt x="15808926" y="6046732"/>
                </a:lnTo>
                <a:lnTo>
                  <a:pt x="0" y="604673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839945" y="552744"/>
            <a:ext cx="9836295" cy="939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40"/>
              </a:lnSpc>
            </a:pPr>
            <a:r>
              <a:rPr lang="en-US" sz="6800">
                <a:solidFill>
                  <a:srgbClr val="F47C32"/>
                </a:solidFill>
                <a:ea typeface="Inter Bold"/>
              </a:rPr>
              <a:t>프로젝트 상세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134233" y="990600"/>
            <a:ext cx="6818840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</a:pPr>
            <a:r>
              <a:rPr lang="en-US" sz="2400" spc="177">
                <a:solidFill>
                  <a:srgbClr val="000000"/>
                </a:solidFill>
                <a:ea typeface="Open Sans Bold"/>
              </a:rPr>
              <a:t>부가 기능 설명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925690" y="2110541"/>
            <a:ext cx="8750550" cy="455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699">
                <a:solidFill>
                  <a:srgbClr val="000000"/>
                </a:solidFill>
                <a:ea typeface="Inter Bold"/>
              </a:rPr>
              <a:t>회원가입 </a:t>
            </a:r>
            <a:r>
              <a:rPr lang="en-US" sz="2699">
                <a:solidFill>
                  <a:srgbClr val="F47C00"/>
                </a:solidFill>
                <a:latin typeface="Inter Bold"/>
              </a:rPr>
              <a:t>&amp;</a:t>
            </a:r>
            <a:r>
              <a:rPr lang="en-US" sz="2699">
                <a:solidFill>
                  <a:srgbClr val="000000"/>
                </a:solidFill>
                <a:latin typeface="Inter Bold"/>
                <a:ea typeface="Inter Bold"/>
              </a:rPr>
              <a:t> 로그인/아웃 </a:t>
            </a:r>
            <a:r>
              <a:rPr lang="en-US" sz="2699">
                <a:solidFill>
                  <a:srgbClr val="F47C00"/>
                </a:solidFill>
                <a:latin typeface="Inter Bold"/>
              </a:rPr>
              <a:t>&amp;</a:t>
            </a:r>
            <a:r>
              <a:rPr lang="en-US" sz="2699">
                <a:solidFill>
                  <a:srgbClr val="000000"/>
                </a:solidFill>
                <a:latin typeface="Inter Bold"/>
                <a:ea typeface="Inter Bold"/>
              </a:rPr>
              <a:t> 통합 대시보드 </a:t>
            </a:r>
            <a:r>
              <a:rPr lang="en-US" sz="2699">
                <a:solidFill>
                  <a:srgbClr val="F47C00"/>
                </a:solidFill>
                <a:latin typeface="Inter Bold"/>
              </a:rPr>
              <a:t>&amp;</a:t>
            </a:r>
            <a:r>
              <a:rPr lang="en-US" sz="2699">
                <a:solidFill>
                  <a:srgbClr val="000000"/>
                </a:solidFill>
                <a:latin typeface="Inter Bold"/>
                <a:ea typeface="Inter Bold"/>
              </a:rPr>
              <a:t> 네비게이션 바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400866" y="0"/>
            <a:ext cx="863406" cy="1914819"/>
            <a:chOff x="0" y="0"/>
            <a:chExt cx="227399" cy="50431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7399" cy="504314"/>
            </a:xfrm>
            <a:custGeom>
              <a:avLst/>
              <a:gdLst/>
              <a:ahLst/>
              <a:cxnLst/>
              <a:rect r="r" b="b" t="t" l="l"/>
              <a:pathLst>
                <a:path h="504314" w="227399">
                  <a:moveTo>
                    <a:pt x="0" y="0"/>
                  </a:moveTo>
                  <a:lnTo>
                    <a:pt x="227399" y="0"/>
                  </a:lnTo>
                  <a:lnTo>
                    <a:pt x="227399" y="504314"/>
                  </a:lnTo>
                  <a:lnTo>
                    <a:pt x="0" y="504314"/>
                  </a:lnTo>
                  <a:close/>
                </a:path>
              </a:pathLst>
            </a:custGeom>
            <a:solidFill>
              <a:srgbClr val="F47C3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227399" cy="5519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7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10094695"/>
            <a:ext cx="18264272" cy="192305"/>
            <a:chOff x="0" y="0"/>
            <a:chExt cx="4810343" cy="5064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810343" cy="50648"/>
            </a:xfrm>
            <a:custGeom>
              <a:avLst/>
              <a:gdLst/>
              <a:ahLst/>
              <a:cxnLst/>
              <a:rect r="r" b="b" t="t" l="l"/>
              <a:pathLst>
                <a:path h="50648" w="4810343">
                  <a:moveTo>
                    <a:pt x="0" y="0"/>
                  </a:moveTo>
                  <a:lnTo>
                    <a:pt x="4810343" y="0"/>
                  </a:lnTo>
                  <a:lnTo>
                    <a:pt x="4810343" y="50648"/>
                  </a:lnTo>
                  <a:lnTo>
                    <a:pt x="0" y="50648"/>
                  </a:lnTo>
                  <a:close/>
                </a:path>
              </a:pathLst>
            </a:custGeom>
            <a:solidFill>
              <a:srgbClr val="F47C32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4810343" cy="982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7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3898380" y="-3453244"/>
            <a:ext cx="4674258" cy="4674258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76200" cap="sq">
              <a:solidFill>
                <a:srgbClr val="EAE4D2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7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839945" y="1914819"/>
            <a:ext cx="877649" cy="877649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AE4D2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44470" lIns="44470" bIns="44470" rIns="44470"/>
            <a:lstStyle/>
            <a:p>
              <a:pPr algn="ctr">
                <a:lnSpc>
                  <a:spcPts val="4199"/>
                </a:lnSpc>
              </a:pPr>
              <a:r>
                <a:rPr lang="en-US" sz="2999">
                  <a:solidFill>
                    <a:srgbClr val="F47C32"/>
                  </a:solidFill>
                  <a:latin typeface="Inter Bold"/>
                </a:rPr>
                <a:t>02</a:t>
              </a: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1261219" y="3474807"/>
            <a:ext cx="2670561" cy="5965675"/>
          </a:xfrm>
          <a:custGeom>
            <a:avLst/>
            <a:gdLst/>
            <a:ahLst/>
            <a:cxnLst/>
            <a:rect r="r" b="b" t="t" l="l"/>
            <a:pathLst>
              <a:path h="5965675" w="2670561">
                <a:moveTo>
                  <a:pt x="0" y="0"/>
                </a:moveTo>
                <a:lnTo>
                  <a:pt x="2670561" y="0"/>
                </a:lnTo>
                <a:lnTo>
                  <a:pt x="2670561" y="5965675"/>
                </a:lnTo>
                <a:lnTo>
                  <a:pt x="0" y="596567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47191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4630041" y="3451017"/>
            <a:ext cx="2567686" cy="5946221"/>
          </a:xfrm>
          <a:custGeom>
            <a:avLst/>
            <a:gdLst/>
            <a:ahLst/>
            <a:cxnLst/>
            <a:rect r="r" b="b" t="t" l="l"/>
            <a:pathLst>
              <a:path h="5946221" w="2567686">
                <a:moveTo>
                  <a:pt x="0" y="0"/>
                </a:moveTo>
                <a:lnTo>
                  <a:pt x="2567687" y="0"/>
                </a:lnTo>
                <a:lnTo>
                  <a:pt x="2567687" y="5946221"/>
                </a:lnTo>
                <a:lnTo>
                  <a:pt x="0" y="594622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7895989" y="3451017"/>
            <a:ext cx="2578082" cy="5946221"/>
          </a:xfrm>
          <a:custGeom>
            <a:avLst/>
            <a:gdLst/>
            <a:ahLst/>
            <a:cxnLst/>
            <a:rect r="r" b="b" t="t" l="l"/>
            <a:pathLst>
              <a:path h="5946221" w="2578082">
                <a:moveTo>
                  <a:pt x="0" y="0"/>
                </a:moveTo>
                <a:lnTo>
                  <a:pt x="2578081" y="0"/>
                </a:lnTo>
                <a:lnTo>
                  <a:pt x="2578081" y="5946221"/>
                </a:lnTo>
                <a:lnTo>
                  <a:pt x="0" y="594622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1167589" y="3446681"/>
            <a:ext cx="2591706" cy="5950557"/>
          </a:xfrm>
          <a:custGeom>
            <a:avLst/>
            <a:gdLst/>
            <a:ahLst/>
            <a:cxnLst/>
            <a:rect r="r" b="b" t="t" l="l"/>
            <a:pathLst>
              <a:path h="5950557" w="2591706">
                <a:moveTo>
                  <a:pt x="0" y="0"/>
                </a:moveTo>
                <a:lnTo>
                  <a:pt x="2591706" y="0"/>
                </a:lnTo>
                <a:lnTo>
                  <a:pt x="2591706" y="5950557"/>
                </a:lnTo>
                <a:lnTo>
                  <a:pt x="0" y="595055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4452814" y="3446681"/>
            <a:ext cx="2550239" cy="5950557"/>
          </a:xfrm>
          <a:custGeom>
            <a:avLst/>
            <a:gdLst/>
            <a:ahLst/>
            <a:cxnLst/>
            <a:rect r="r" b="b" t="t" l="l"/>
            <a:pathLst>
              <a:path h="5950557" w="2550239">
                <a:moveTo>
                  <a:pt x="0" y="0"/>
                </a:moveTo>
                <a:lnTo>
                  <a:pt x="2550239" y="0"/>
                </a:lnTo>
                <a:lnTo>
                  <a:pt x="2550239" y="5950557"/>
                </a:lnTo>
                <a:lnTo>
                  <a:pt x="0" y="595055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839945" y="552744"/>
            <a:ext cx="9836295" cy="939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40"/>
              </a:lnSpc>
            </a:pPr>
            <a:r>
              <a:rPr lang="en-US" sz="6800">
                <a:solidFill>
                  <a:srgbClr val="F47C32"/>
                </a:solidFill>
                <a:ea typeface="Inter Bold"/>
              </a:rPr>
              <a:t>프로젝트 상세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6134233" y="990600"/>
            <a:ext cx="6818840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</a:pPr>
            <a:r>
              <a:rPr lang="en-US" sz="2400" spc="177">
                <a:solidFill>
                  <a:srgbClr val="000000"/>
                </a:solidFill>
                <a:ea typeface="Open Sans Bold"/>
              </a:rPr>
              <a:t>부가 기능 설명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925690" y="2110541"/>
            <a:ext cx="8750550" cy="455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699">
                <a:solidFill>
                  <a:srgbClr val="000000"/>
                </a:solidFill>
                <a:ea typeface="Inter Bold"/>
              </a:rPr>
              <a:t>노숙인 프로필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400866" y="0"/>
            <a:ext cx="863406" cy="1914819"/>
            <a:chOff x="0" y="0"/>
            <a:chExt cx="227399" cy="50431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7399" cy="504314"/>
            </a:xfrm>
            <a:custGeom>
              <a:avLst/>
              <a:gdLst/>
              <a:ahLst/>
              <a:cxnLst/>
              <a:rect r="r" b="b" t="t" l="l"/>
              <a:pathLst>
                <a:path h="504314" w="227399">
                  <a:moveTo>
                    <a:pt x="0" y="0"/>
                  </a:moveTo>
                  <a:lnTo>
                    <a:pt x="227399" y="0"/>
                  </a:lnTo>
                  <a:lnTo>
                    <a:pt x="227399" y="504314"/>
                  </a:lnTo>
                  <a:lnTo>
                    <a:pt x="0" y="504314"/>
                  </a:lnTo>
                  <a:close/>
                </a:path>
              </a:pathLst>
            </a:custGeom>
            <a:solidFill>
              <a:srgbClr val="F47C3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227399" cy="5519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7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10094695"/>
            <a:ext cx="18264272" cy="192305"/>
            <a:chOff x="0" y="0"/>
            <a:chExt cx="4810343" cy="5064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810343" cy="50648"/>
            </a:xfrm>
            <a:custGeom>
              <a:avLst/>
              <a:gdLst/>
              <a:ahLst/>
              <a:cxnLst/>
              <a:rect r="r" b="b" t="t" l="l"/>
              <a:pathLst>
                <a:path h="50648" w="4810343">
                  <a:moveTo>
                    <a:pt x="0" y="0"/>
                  </a:moveTo>
                  <a:lnTo>
                    <a:pt x="4810343" y="0"/>
                  </a:lnTo>
                  <a:lnTo>
                    <a:pt x="4810343" y="50648"/>
                  </a:lnTo>
                  <a:lnTo>
                    <a:pt x="0" y="50648"/>
                  </a:lnTo>
                  <a:close/>
                </a:path>
              </a:pathLst>
            </a:custGeom>
            <a:solidFill>
              <a:srgbClr val="F47C32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4810343" cy="982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7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3898380" y="-3453244"/>
            <a:ext cx="4674258" cy="4674258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76200" cap="sq">
              <a:solidFill>
                <a:srgbClr val="EAE4D2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7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839945" y="1914819"/>
            <a:ext cx="877649" cy="877649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AE4D2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44470" lIns="44470" bIns="44470" rIns="44470"/>
            <a:lstStyle/>
            <a:p>
              <a:pPr algn="ctr">
                <a:lnSpc>
                  <a:spcPts val="4199"/>
                </a:lnSpc>
              </a:pPr>
              <a:r>
                <a:rPr lang="en-US" sz="2999">
                  <a:solidFill>
                    <a:srgbClr val="F47C32"/>
                  </a:solidFill>
                  <a:latin typeface="Inter Bold"/>
                </a:rPr>
                <a:t>03</a:t>
              </a: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1925690" y="3162613"/>
            <a:ext cx="9517018" cy="6095687"/>
          </a:xfrm>
          <a:custGeom>
            <a:avLst/>
            <a:gdLst/>
            <a:ahLst/>
            <a:cxnLst/>
            <a:rect r="r" b="b" t="t" l="l"/>
            <a:pathLst>
              <a:path h="6095687" w="9517018">
                <a:moveTo>
                  <a:pt x="0" y="0"/>
                </a:moveTo>
                <a:lnTo>
                  <a:pt x="9517018" y="0"/>
                </a:lnTo>
                <a:lnTo>
                  <a:pt x="9517018" y="6095687"/>
                </a:lnTo>
                <a:lnTo>
                  <a:pt x="0" y="60956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839945" y="552744"/>
            <a:ext cx="9836295" cy="939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40"/>
              </a:lnSpc>
            </a:pPr>
            <a:r>
              <a:rPr lang="en-US" sz="6800">
                <a:solidFill>
                  <a:srgbClr val="F47C32"/>
                </a:solidFill>
                <a:ea typeface="Inter Bold"/>
              </a:rPr>
              <a:t>프로젝트 상세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134233" y="990600"/>
            <a:ext cx="6818840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</a:pPr>
            <a:r>
              <a:rPr lang="en-US" sz="2400" spc="177">
                <a:solidFill>
                  <a:srgbClr val="000000"/>
                </a:solidFill>
                <a:ea typeface="Open Sans Bold"/>
              </a:rPr>
              <a:t>부가 기능 설명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925690" y="2110541"/>
            <a:ext cx="8750550" cy="455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699">
                <a:solidFill>
                  <a:srgbClr val="000000"/>
                </a:solidFill>
                <a:ea typeface="Inter Bold"/>
              </a:rPr>
              <a:t>이름을 알 수 없는 노숙인 모음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13534220" y="3665573"/>
            <a:ext cx="8596698" cy="8596698"/>
            <a:chOff x="0" y="0"/>
            <a:chExt cx="812800" cy="812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AE4D2"/>
            </a:solidFill>
            <a:ln w="952500" cap="sq">
              <a:solidFill>
                <a:srgbClr val="F6F6F6"/>
              </a:solidFill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79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4263769" y="4375820"/>
            <a:ext cx="7542783" cy="7542783"/>
            <a:chOff x="0" y="0"/>
            <a:chExt cx="812800" cy="812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AE4D2"/>
            </a:solidFill>
            <a:ln w="952500" cap="sq">
              <a:solidFill>
                <a:srgbClr val="F47C00"/>
              </a:solidFill>
              <a:prstDash val="solid"/>
              <a:miter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79"/>
                </a:lnSpc>
              </a:pPr>
            </a:p>
          </p:txBody>
        </p:sp>
      </p:grp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402759" y="6802807"/>
            <a:ext cx="5402508" cy="5402508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0" cap="sq">
              <a:solidFill>
                <a:srgbClr val="F6F6F6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79"/>
                </a:lnSpc>
              </a:pPr>
            </a:p>
          </p:txBody>
        </p:sp>
      </p:grpSp>
      <p:sp>
        <p:nvSpPr>
          <p:cNvPr name="AutoShape 5" id="5"/>
          <p:cNvSpPr/>
          <p:nvPr/>
        </p:nvSpPr>
        <p:spPr>
          <a:xfrm>
            <a:off x="1124956" y="8585380"/>
            <a:ext cx="16138684" cy="0"/>
          </a:xfrm>
          <a:prstGeom prst="line">
            <a:avLst/>
          </a:prstGeom>
          <a:ln cap="flat" w="38100">
            <a:solidFill>
              <a:srgbClr val="F47C32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" id="6"/>
          <p:cNvGrpSpPr/>
          <p:nvPr/>
        </p:nvGrpSpPr>
        <p:grpSpPr>
          <a:xfrm rot="0">
            <a:off x="10785978" y="1231643"/>
            <a:ext cx="4758515" cy="4758515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AE4D2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7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074658" y="5553371"/>
            <a:ext cx="447675" cy="447675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47C32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7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5972039" y="656036"/>
            <a:ext cx="1241303" cy="575606"/>
            <a:chOff x="0" y="0"/>
            <a:chExt cx="326928" cy="1516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26928" cy="151600"/>
            </a:xfrm>
            <a:custGeom>
              <a:avLst/>
              <a:gdLst/>
              <a:ahLst/>
              <a:cxnLst/>
              <a:rect r="r" b="b" t="t" l="l"/>
              <a:pathLst>
                <a:path h="151600" w="326928">
                  <a:moveTo>
                    <a:pt x="75800" y="0"/>
                  </a:moveTo>
                  <a:lnTo>
                    <a:pt x="251128" y="0"/>
                  </a:lnTo>
                  <a:cubicBezTo>
                    <a:pt x="292991" y="0"/>
                    <a:pt x="326928" y="33937"/>
                    <a:pt x="326928" y="75800"/>
                  </a:cubicBezTo>
                  <a:lnTo>
                    <a:pt x="326928" y="75800"/>
                  </a:lnTo>
                  <a:cubicBezTo>
                    <a:pt x="326928" y="117663"/>
                    <a:pt x="292991" y="151600"/>
                    <a:pt x="251128" y="151600"/>
                  </a:cubicBezTo>
                  <a:lnTo>
                    <a:pt x="75800" y="151600"/>
                  </a:lnTo>
                  <a:cubicBezTo>
                    <a:pt x="33937" y="151600"/>
                    <a:pt x="0" y="117663"/>
                    <a:pt x="0" y="75800"/>
                  </a:cubicBezTo>
                  <a:lnTo>
                    <a:pt x="0" y="75800"/>
                  </a:lnTo>
                  <a:cubicBezTo>
                    <a:pt x="0" y="33937"/>
                    <a:pt x="33937" y="0"/>
                    <a:pt x="75800" y="0"/>
                  </a:cubicBezTo>
                  <a:close/>
                </a:path>
              </a:pathLst>
            </a:custGeom>
            <a:solidFill>
              <a:srgbClr val="F47C32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326928" cy="199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79"/>
                </a:lnSpc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16275918" y="793769"/>
            <a:ext cx="633545" cy="300142"/>
          </a:xfrm>
          <a:custGeom>
            <a:avLst/>
            <a:gdLst/>
            <a:ahLst/>
            <a:cxnLst/>
            <a:rect r="r" b="b" t="t" l="l"/>
            <a:pathLst>
              <a:path h="300142" w="633545">
                <a:moveTo>
                  <a:pt x="0" y="0"/>
                </a:moveTo>
                <a:lnTo>
                  <a:pt x="633545" y="0"/>
                </a:lnTo>
                <a:lnTo>
                  <a:pt x="633545" y="300141"/>
                </a:lnTo>
                <a:lnTo>
                  <a:pt x="0" y="30014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981075" y="2884046"/>
            <a:ext cx="14166687" cy="2670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873"/>
              </a:lnSpc>
            </a:pPr>
            <a:r>
              <a:rPr lang="en-US" sz="15624">
                <a:solidFill>
                  <a:srgbClr val="F47C32"/>
                </a:solidFill>
                <a:latin typeface="Inter Bold"/>
              </a:rPr>
              <a:t>THA</a:t>
            </a:r>
            <a:r>
              <a:rPr lang="en-US" sz="15624">
                <a:solidFill>
                  <a:srgbClr val="D6CDB3"/>
                </a:solidFill>
                <a:latin typeface="Inter Bold"/>
              </a:rPr>
              <a:t>N</a:t>
            </a:r>
            <a:r>
              <a:rPr lang="en-US" sz="15624">
                <a:solidFill>
                  <a:srgbClr val="F47C32"/>
                </a:solidFill>
                <a:latin typeface="Inter Bold"/>
              </a:rPr>
              <a:t>K YOU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690843" y="5507968"/>
            <a:ext cx="8069342" cy="4812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19"/>
              </a:lnSpc>
            </a:pPr>
            <a:r>
              <a:rPr lang="en-US" sz="2799" spc="207">
                <a:solidFill>
                  <a:srgbClr val="000000"/>
                </a:solidFill>
                <a:ea typeface="Open Sans Semi-Bold"/>
              </a:rPr>
              <a:t>감 사 합 니 다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3739565" y="8862553"/>
            <a:ext cx="3473777" cy="3682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099"/>
              </a:lnSpc>
            </a:pPr>
            <a:r>
              <a:rPr lang="en-US" sz="1999">
                <a:solidFill>
                  <a:srgbClr val="000000"/>
                </a:solidFill>
                <a:ea typeface="Open Sans Bold"/>
              </a:rPr>
              <a:t>이경화  손효림  한아림  한별하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729607" y="656036"/>
            <a:ext cx="1585452" cy="1585452"/>
          </a:xfrm>
          <a:custGeom>
            <a:avLst/>
            <a:gdLst/>
            <a:ahLst/>
            <a:cxnLst/>
            <a:rect r="r" b="b" t="t" l="l"/>
            <a:pathLst>
              <a:path h="1585452" w="1585452">
                <a:moveTo>
                  <a:pt x="0" y="0"/>
                </a:moveTo>
                <a:lnTo>
                  <a:pt x="1585452" y="0"/>
                </a:lnTo>
                <a:lnTo>
                  <a:pt x="1585452" y="1585453"/>
                </a:lnTo>
                <a:lnTo>
                  <a:pt x="0" y="158545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957227"/>
            <a:ext cx="18264272" cy="329773"/>
            <a:chOff x="0" y="0"/>
            <a:chExt cx="4810343" cy="8685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0343" cy="86854"/>
            </a:xfrm>
            <a:custGeom>
              <a:avLst/>
              <a:gdLst/>
              <a:ahLst/>
              <a:cxnLst/>
              <a:rect r="r" b="b" t="t" l="l"/>
              <a:pathLst>
                <a:path h="86854" w="4810343">
                  <a:moveTo>
                    <a:pt x="0" y="0"/>
                  </a:moveTo>
                  <a:lnTo>
                    <a:pt x="4810343" y="0"/>
                  </a:lnTo>
                  <a:lnTo>
                    <a:pt x="4810343" y="86854"/>
                  </a:lnTo>
                  <a:lnTo>
                    <a:pt x="0" y="86854"/>
                  </a:lnTo>
                  <a:close/>
                </a:path>
              </a:pathLst>
            </a:custGeom>
            <a:solidFill>
              <a:srgbClr val="F47C3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810343" cy="1344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7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3728" y="0"/>
            <a:ext cx="18264272" cy="329773"/>
            <a:chOff x="0" y="0"/>
            <a:chExt cx="4810343" cy="8685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810343" cy="86854"/>
            </a:xfrm>
            <a:custGeom>
              <a:avLst/>
              <a:gdLst/>
              <a:ahLst/>
              <a:cxnLst/>
              <a:rect r="r" b="b" t="t" l="l"/>
              <a:pathLst>
                <a:path h="86854" w="4810343">
                  <a:moveTo>
                    <a:pt x="0" y="0"/>
                  </a:moveTo>
                  <a:lnTo>
                    <a:pt x="4810343" y="0"/>
                  </a:lnTo>
                  <a:lnTo>
                    <a:pt x="4810343" y="86854"/>
                  </a:lnTo>
                  <a:lnTo>
                    <a:pt x="0" y="86854"/>
                  </a:lnTo>
                  <a:close/>
                </a:path>
              </a:pathLst>
            </a:custGeom>
            <a:solidFill>
              <a:srgbClr val="F47C32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4810343" cy="1344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79"/>
                </a:lnSpc>
              </a:pPr>
            </a:p>
          </p:txBody>
        </p:sp>
      </p:grpSp>
      <p:pic>
        <p:nvPicPr>
          <p:cNvPr name="Picture 8" id="8">
            <a:hlinkClick action="ppaction://media"/>
          </p:cNvPr>
          <p:cNvPicPr>
            <a:picLocks noChangeAspect="true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2"/>
          <a:srcRect l="0" t="462" r="0" b="462"/>
          <a:stretch>
            <a:fillRect/>
          </a:stretch>
        </p:blipFill>
        <p:spPr>
          <a:xfrm flipH="false" flipV="false" rot="0">
            <a:off x="484678" y="329773"/>
            <a:ext cx="4813727" cy="9627455"/>
          </a:xfrm>
          <a:prstGeom prst="rect">
            <a:avLst/>
          </a:prstGeom>
        </p:spPr>
      </p:pic>
      <p:pic>
        <p:nvPicPr>
          <p:cNvPr name="Picture 9" id="9">
            <a:hlinkClick action="ppaction://media"/>
          </p:cNvPr>
          <p:cNvPicPr>
            <a:picLocks noChangeAspect="true"/>
          </p:cNvPicPr>
          <p:nvPr>
            <a:videoFile r:link="rId6"/>
            <p:extLst>
              <p:ext uri="{DAA4B4D4-6D71-4841-9C94-3DE7FCFB9230}">
                <p14:media xmlns:p14="http://schemas.microsoft.com/office/powerpoint/2010/main" r:embed="rId7"/>
              </p:ext>
            </p:extLst>
          </p:nvPr>
        </p:nvPicPr>
        <p:blipFill>
          <a:blip r:embed="rId5"/>
          <a:srcRect l="0" t="462" r="0" b="462"/>
          <a:stretch>
            <a:fillRect/>
          </a:stretch>
        </p:blipFill>
        <p:spPr>
          <a:xfrm flipH="false" flipV="false" rot="0">
            <a:off x="12829750" y="329773"/>
            <a:ext cx="4813727" cy="9627455"/>
          </a:xfrm>
          <a:prstGeom prst="rect">
            <a:avLst/>
          </a:prstGeom>
        </p:spPr>
      </p:pic>
      <p:sp>
        <p:nvSpPr>
          <p:cNvPr name="TextBox 10" id="10"/>
          <p:cNvSpPr txBox="true"/>
          <p:nvPr/>
        </p:nvSpPr>
        <p:spPr>
          <a:xfrm rot="0">
            <a:off x="5406754" y="1882513"/>
            <a:ext cx="5495251" cy="5962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15"/>
              </a:lnSpc>
            </a:pPr>
            <a:r>
              <a:rPr lang="en-US" sz="4300">
                <a:solidFill>
                  <a:srgbClr val="F47C00"/>
                </a:solidFill>
                <a:latin typeface="Inter Bold"/>
                <a:ea typeface="Inter Bold"/>
              </a:rPr>
              <a:t>⬅️ </a:t>
            </a:r>
            <a:r>
              <a:rPr lang="en-US" sz="4300">
                <a:solidFill>
                  <a:srgbClr val="000000"/>
                </a:solidFill>
                <a:ea typeface="Inter Bold"/>
              </a:rPr>
              <a:t>회원가입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935465" y="7602516"/>
            <a:ext cx="6789510" cy="5962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515"/>
              </a:lnSpc>
            </a:pPr>
            <a:r>
              <a:rPr lang="en-US" sz="4300">
                <a:solidFill>
                  <a:srgbClr val="000000"/>
                </a:solidFill>
                <a:latin typeface="Inter Bold"/>
                <a:ea typeface="Inter Bold"/>
              </a:rPr>
              <a:t>회원정보 수정 / 회원탈퇴 </a:t>
            </a:r>
            <a:r>
              <a:rPr lang="en-US" sz="4300">
                <a:solidFill>
                  <a:srgbClr val="F47C00"/>
                </a:solidFill>
                <a:ea typeface="Inter Bold"/>
              </a:rPr>
              <a:t>➡️</a:t>
            </a:r>
          </a:p>
        </p:txBody>
      </p:sp>
    </p:spTree>
  </p:cSld>
  <p:clrMapOvr>
    <a:masterClrMapping/>
  </p:clrMapOvr>
  <p:timing>
    <p:tnLst>
      <p:par>
        <p:cTn dur="indefinite" restart="never" nodeType="tmRoot">
          <p:childTnLst>
            <p:video>
              <p:cMediaNode vol="100000">
                <p:cTn fill="hold" display="false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  <p:video>
              <p:cMediaNode vol="100000">
                <p:cTn fill="hold" display="false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</p:childTnLst>
        </p:cTn>
      </p:par>
    </p:tnLst>
  </p:timing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957227"/>
            <a:ext cx="18264272" cy="329773"/>
            <a:chOff x="0" y="0"/>
            <a:chExt cx="4810343" cy="8685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0343" cy="86854"/>
            </a:xfrm>
            <a:custGeom>
              <a:avLst/>
              <a:gdLst/>
              <a:ahLst/>
              <a:cxnLst/>
              <a:rect r="r" b="b" t="t" l="l"/>
              <a:pathLst>
                <a:path h="86854" w="4810343">
                  <a:moveTo>
                    <a:pt x="0" y="0"/>
                  </a:moveTo>
                  <a:lnTo>
                    <a:pt x="4810343" y="0"/>
                  </a:lnTo>
                  <a:lnTo>
                    <a:pt x="4810343" y="86854"/>
                  </a:lnTo>
                  <a:lnTo>
                    <a:pt x="0" y="86854"/>
                  </a:lnTo>
                  <a:close/>
                </a:path>
              </a:pathLst>
            </a:custGeom>
            <a:solidFill>
              <a:srgbClr val="F47C3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810343" cy="1344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7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3728" y="0"/>
            <a:ext cx="18264272" cy="329773"/>
            <a:chOff x="0" y="0"/>
            <a:chExt cx="4810343" cy="8685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810343" cy="86854"/>
            </a:xfrm>
            <a:custGeom>
              <a:avLst/>
              <a:gdLst/>
              <a:ahLst/>
              <a:cxnLst/>
              <a:rect r="r" b="b" t="t" l="l"/>
              <a:pathLst>
                <a:path h="86854" w="4810343">
                  <a:moveTo>
                    <a:pt x="0" y="0"/>
                  </a:moveTo>
                  <a:lnTo>
                    <a:pt x="4810343" y="0"/>
                  </a:lnTo>
                  <a:lnTo>
                    <a:pt x="4810343" y="86854"/>
                  </a:lnTo>
                  <a:lnTo>
                    <a:pt x="0" y="86854"/>
                  </a:lnTo>
                  <a:close/>
                </a:path>
              </a:pathLst>
            </a:custGeom>
            <a:solidFill>
              <a:srgbClr val="F47C32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4810343" cy="1344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79"/>
                </a:lnSpc>
              </a:pPr>
            </a:p>
          </p:txBody>
        </p:sp>
      </p:grpSp>
      <p:pic>
        <p:nvPicPr>
          <p:cNvPr name="Picture 8" id="8">
            <a:hlinkClick action="ppaction://media"/>
          </p:cNvPr>
          <p:cNvPicPr>
            <a:picLocks noChangeAspect="true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2"/>
          <a:srcRect l="0" t="346" r="0" b="346"/>
          <a:stretch>
            <a:fillRect/>
          </a:stretch>
        </p:blipFill>
        <p:spPr>
          <a:xfrm flipH="false" flipV="false" rot="0">
            <a:off x="439434" y="329773"/>
            <a:ext cx="4813727" cy="9627455"/>
          </a:xfrm>
          <a:prstGeom prst="rect">
            <a:avLst/>
          </a:prstGeom>
        </p:spPr>
      </p:pic>
      <p:pic>
        <p:nvPicPr>
          <p:cNvPr name="Picture 9" id="9">
            <a:hlinkClick action="ppaction://media"/>
          </p:cNvPr>
          <p:cNvPicPr>
            <a:picLocks noChangeAspect="true"/>
          </p:cNvPicPr>
          <p:nvPr>
            <a:videoFile r:link="rId6"/>
            <p:extLst>
              <p:ext uri="{DAA4B4D4-6D71-4841-9C94-3DE7FCFB9230}">
                <p14:media xmlns:p14="http://schemas.microsoft.com/office/powerpoint/2010/main" r:embed="rId7"/>
              </p:ext>
            </p:extLst>
          </p:nvPr>
        </p:nvPicPr>
        <p:blipFill>
          <a:blip r:embed="rId5"/>
          <a:srcRect l="0" t="346" r="0" b="346"/>
          <a:stretch>
            <a:fillRect/>
          </a:stretch>
        </p:blipFill>
        <p:spPr>
          <a:xfrm flipH="false" flipV="false" rot="0">
            <a:off x="12877375" y="329773"/>
            <a:ext cx="4813727" cy="9627455"/>
          </a:xfrm>
          <a:prstGeom prst="rect">
            <a:avLst/>
          </a:prstGeom>
        </p:spPr>
      </p:pic>
      <p:sp>
        <p:nvSpPr>
          <p:cNvPr name="TextBox 10" id="10"/>
          <p:cNvSpPr txBox="true"/>
          <p:nvPr/>
        </p:nvSpPr>
        <p:spPr>
          <a:xfrm rot="0">
            <a:off x="5406754" y="1882513"/>
            <a:ext cx="5037027" cy="5962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15"/>
              </a:lnSpc>
            </a:pPr>
            <a:r>
              <a:rPr lang="en-US" sz="4300">
                <a:solidFill>
                  <a:srgbClr val="F47C00"/>
                </a:solidFill>
                <a:latin typeface="Inter Bold"/>
                <a:ea typeface="Inter Bold"/>
              </a:rPr>
              <a:t>⬅️ </a:t>
            </a:r>
            <a:r>
              <a:rPr lang="en-US" sz="4300">
                <a:solidFill>
                  <a:srgbClr val="000000"/>
                </a:solidFill>
                <a:latin typeface="Inter Bold"/>
                <a:ea typeface="Inter Bold"/>
              </a:rPr>
              <a:t>로그인 / 로그아웃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406754" y="7602516"/>
            <a:ext cx="7318221" cy="5962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515"/>
              </a:lnSpc>
            </a:pPr>
            <a:r>
              <a:rPr lang="en-US" sz="4300">
                <a:solidFill>
                  <a:srgbClr val="000000"/>
                </a:solidFill>
                <a:latin typeface="Inter Bold"/>
                <a:ea typeface="Inter Bold"/>
              </a:rPr>
              <a:t>대시보드 &amp; 네비게이션 바 </a:t>
            </a:r>
            <a:r>
              <a:rPr lang="en-US" sz="4300">
                <a:solidFill>
                  <a:srgbClr val="F47C00"/>
                </a:solidFill>
                <a:ea typeface="Inter Bold"/>
              </a:rPr>
              <a:t>➡️</a:t>
            </a:r>
          </a:p>
        </p:txBody>
      </p:sp>
    </p:spTree>
  </p:cSld>
  <p:clrMapOvr>
    <a:masterClrMapping/>
  </p:clrMapOvr>
  <p:timing>
    <p:tnLst>
      <p:par>
        <p:cTn dur="indefinite" restart="never" nodeType="tmRoot">
          <p:childTnLst>
            <p:video>
              <p:cMediaNode vol="100000">
                <p:cTn fill="hold" display="false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  <p:video>
              <p:cMediaNode vol="100000">
                <p:cTn fill="hold" display="false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</p:childTnLst>
        </p:cTn>
      </p:par>
    </p:tnLst>
  </p:timing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957227"/>
            <a:ext cx="18264272" cy="329773"/>
            <a:chOff x="0" y="0"/>
            <a:chExt cx="4810343" cy="8685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0343" cy="86854"/>
            </a:xfrm>
            <a:custGeom>
              <a:avLst/>
              <a:gdLst/>
              <a:ahLst/>
              <a:cxnLst/>
              <a:rect r="r" b="b" t="t" l="l"/>
              <a:pathLst>
                <a:path h="86854" w="4810343">
                  <a:moveTo>
                    <a:pt x="0" y="0"/>
                  </a:moveTo>
                  <a:lnTo>
                    <a:pt x="4810343" y="0"/>
                  </a:lnTo>
                  <a:lnTo>
                    <a:pt x="4810343" y="86854"/>
                  </a:lnTo>
                  <a:lnTo>
                    <a:pt x="0" y="86854"/>
                  </a:lnTo>
                  <a:close/>
                </a:path>
              </a:pathLst>
            </a:custGeom>
            <a:solidFill>
              <a:srgbClr val="F47C3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810343" cy="1344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7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3728" y="0"/>
            <a:ext cx="18264272" cy="329773"/>
            <a:chOff x="0" y="0"/>
            <a:chExt cx="4810343" cy="8685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810343" cy="86854"/>
            </a:xfrm>
            <a:custGeom>
              <a:avLst/>
              <a:gdLst/>
              <a:ahLst/>
              <a:cxnLst/>
              <a:rect r="r" b="b" t="t" l="l"/>
              <a:pathLst>
                <a:path h="86854" w="4810343">
                  <a:moveTo>
                    <a:pt x="0" y="0"/>
                  </a:moveTo>
                  <a:lnTo>
                    <a:pt x="4810343" y="0"/>
                  </a:lnTo>
                  <a:lnTo>
                    <a:pt x="4810343" y="86854"/>
                  </a:lnTo>
                  <a:lnTo>
                    <a:pt x="0" y="86854"/>
                  </a:lnTo>
                  <a:close/>
                </a:path>
              </a:pathLst>
            </a:custGeom>
            <a:solidFill>
              <a:srgbClr val="F47C32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4810343" cy="1344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79"/>
                </a:lnSpc>
              </a:pPr>
            </a:p>
          </p:txBody>
        </p:sp>
      </p:grpSp>
      <p:pic>
        <p:nvPicPr>
          <p:cNvPr name="Picture 8" id="8">
            <a:hlinkClick action="ppaction://media"/>
          </p:cNvPr>
          <p:cNvPicPr>
            <a:picLocks noChangeAspect="true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029775" y="329773"/>
            <a:ext cx="4769156" cy="9627455"/>
          </a:xfrm>
          <a:prstGeom prst="rect">
            <a:avLst/>
          </a:prstGeom>
        </p:spPr>
      </p:pic>
      <p:pic>
        <p:nvPicPr>
          <p:cNvPr name="Picture 9" id="9">
            <a:hlinkClick action="ppaction://media"/>
          </p:cNvPr>
          <p:cNvPicPr>
            <a:picLocks noChangeAspect="true"/>
          </p:cNvPicPr>
          <p:nvPr>
            <a:videoFile r:link="rId6"/>
            <p:extLst>
              <p:ext uri="{DAA4B4D4-6D71-4841-9C94-3DE7FCFB9230}">
                <p14:media xmlns:p14="http://schemas.microsoft.com/office/powerpoint/2010/main" r:embed="rId7"/>
              </p:ext>
            </p:extLst>
          </p:nvPr>
        </p:nvPicPr>
        <p:blipFill>
          <a:blip r:embed="rId5"/>
          <a:srcRect l="0" t="462" r="0" b="462"/>
          <a:stretch>
            <a:fillRect/>
          </a:stretch>
        </p:blipFill>
        <p:spPr>
          <a:xfrm flipH="false" flipV="false" rot="0">
            <a:off x="288226" y="329773"/>
            <a:ext cx="4813727" cy="9627455"/>
          </a:xfrm>
          <a:prstGeom prst="rect">
            <a:avLst/>
          </a:prstGeom>
        </p:spPr>
      </p:pic>
      <p:sp>
        <p:nvSpPr>
          <p:cNvPr name="TextBox 10" id="10"/>
          <p:cNvSpPr txBox="true"/>
          <p:nvPr/>
        </p:nvSpPr>
        <p:spPr>
          <a:xfrm rot="0">
            <a:off x="5406754" y="1882513"/>
            <a:ext cx="6778278" cy="5962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15"/>
              </a:lnSpc>
            </a:pPr>
            <a:r>
              <a:rPr lang="en-US" sz="4300">
                <a:solidFill>
                  <a:srgbClr val="F47C00"/>
                </a:solidFill>
                <a:latin typeface="Inter Bold"/>
                <a:ea typeface="Inter Bold"/>
              </a:rPr>
              <a:t>⬅️ </a:t>
            </a:r>
            <a:r>
              <a:rPr lang="en-US" sz="4300">
                <a:solidFill>
                  <a:srgbClr val="000000"/>
                </a:solidFill>
                <a:latin typeface="Inter Bold"/>
                <a:ea typeface="Inter Bold"/>
              </a:rPr>
              <a:t>노숙인 프로필 검색 &amp; 보기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557207" y="7602516"/>
            <a:ext cx="7167768" cy="5962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515"/>
              </a:lnSpc>
            </a:pPr>
            <a:r>
              <a:rPr lang="en-US" sz="4300">
                <a:solidFill>
                  <a:srgbClr val="000000"/>
                </a:solidFill>
                <a:latin typeface="Inter Bold"/>
                <a:ea typeface="Inter Bold"/>
              </a:rPr>
              <a:t>노숙인 프로필 수정 &amp; 삭제 </a:t>
            </a:r>
            <a:r>
              <a:rPr lang="en-US" sz="4300">
                <a:solidFill>
                  <a:srgbClr val="F47C00"/>
                </a:solidFill>
                <a:ea typeface="Inter Bold"/>
              </a:rPr>
              <a:t>➡️</a:t>
            </a:r>
          </a:p>
        </p:txBody>
      </p:sp>
    </p:spTree>
  </p:cSld>
  <p:clrMapOvr>
    <a:masterClrMapping/>
  </p:clrMapOvr>
  <p:timing>
    <p:tnLst>
      <p:par>
        <p:cTn dur="indefinite" restart="never" nodeType="tmRoot">
          <p:childTnLst>
            <p:video>
              <p:cMediaNode vol="100000">
                <p:cTn fill="hold" display="false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  <p:video>
              <p:cMediaNode vol="100000">
                <p:cTn fill="hold" display="false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</p:childTnLst>
        </p:cTn>
      </p:par>
    </p:tnLst>
  </p:timing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957227"/>
            <a:ext cx="18264272" cy="329773"/>
            <a:chOff x="0" y="0"/>
            <a:chExt cx="4810343" cy="8685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0343" cy="86854"/>
            </a:xfrm>
            <a:custGeom>
              <a:avLst/>
              <a:gdLst/>
              <a:ahLst/>
              <a:cxnLst/>
              <a:rect r="r" b="b" t="t" l="l"/>
              <a:pathLst>
                <a:path h="86854" w="4810343">
                  <a:moveTo>
                    <a:pt x="0" y="0"/>
                  </a:moveTo>
                  <a:lnTo>
                    <a:pt x="4810343" y="0"/>
                  </a:lnTo>
                  <a:lnTo>
                    <a:pt x="4810343" y="86854"/>
                  </a:lnTo>
                  <a:lnTo>
                    <a:pt x="0" y="86854"/>
                  </a:lnTo>
                  <a:close/>
                </a:path>
              </a:pathLst>
            </a:custGeom>
            <a:solidFill>
              <a:srgbClr val="F47C3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810343" cy="1344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7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3728" y="0"/>
            <a:ext cx="18264272" cy="329773"/>
            <a:chOff x="0" y="0"/>
            <a:chExt cx="4810343" cy="8685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810343" cy="86854"/>
            </a:xfrm>
            <a:custGeom>
              <a:avLst/>
              <a:gdLst/>
              <a:ahLst/>
              <a:cxnLst/>
              <a:rect r="r" b="b" t="t" l="l"/>
              <a:pathLst>
                <a:path h="86854" w="4810343">
                  <a:moveTo>
                    <a:pt x="0" y="0"/>
                  </a:moveTo>
                  <a:lnTo>
                    <a:pt x="4810343" y="0"/>
                  </a:lnTo>
                  <a:lnTo>
                    <a:pt x="4810343" y="86854"/>
                  </a:lnTo>
                  <a:lnTo>
                    <a:pt x="0" y="86854"/>
                  </a:lnTo>
                  <a:close/>
                </a:path>
              </a:pathLst>
            </a:custGeom>
            <a:solidFill>
              <a:srgbClr val="F47C32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4810343" cy="1344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79"/>
                </a:lnSpc>
              </a:pPr>
            </a:p>
          </p:txBody>
        </p:sp>
      </p:grpSp>
      <p:pic>
        <p:nvPicPr>
          <p:cNvPr name="Picture 8" id="8">
            <a:hlinkClick action="ppaction://media"/>
          </p:cNvPr>
          <p:cNvPicPr>
            <a:picLocks noChangeAspect="true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2"/>
          <a:srcRect l="0" t="462" r="0" b="462"/>
          <a:stretch>
            <a:fillRect/>
          </a:stretch>
        </p:blipFill>
        <p:spPr>
          <a:xfrm flipH="false" flipV="false" rot="0">
            <a:off x="394190" y="329773"/>
            <a:ext cx="4813727" cy="9627455"/>
          </a:xfrm>
          <a:prstGeom prst="rect">
            <a:avLst/>
          </a:prstGeom>
        </p:spPr>
      </p:pic>
      <p:pic>
        <p:nvPicPr>
          <p:cNvPr name="Picture 9" id="9">
            <a:hlinkClick action="ppaction://media"/>
          </p:cNvPr>
          <p:cNvPicPr>
            <a:picLocks noChangeAspect="true"/>
          </p:cNvPicPr>
          <p:nvPr>
            <a:videoFile r:link="rId6"/>
            <p:extLst>
              <p:ext uri="{DAA4B4D4-6D71-4841-9C94-3DE7FCFB9230}">
                <p14:media xmlns:p14="http://schemas.microsoft.com/office/powerpoint/2010/main" r:embed="rId7"/>
              </p:ext>
            </p:extLst>
          </p:nvPr>
        </p:nvPicPr>
        <p:blipFill>
          <a:blip r:embed="rId5"/>
          <a:srcRect l="0" t="462" r="0" b="462"/>
          <a:stretch>
            <a:fillRect/>
          </a:stretch>
        </p:blipFill>
        <p:spPr>
          <a:xfrm flipH="false" flipV="false" rot="0">
            <a:off x="13077400" y="329773"/>
            <a:ext cx="4813727" cy="9627455"/>
          </a:xfrm>
          <a:prstGeom prst="rect">
            <a:avLst/>
          </a:prstGeom>
        </p:spPr>
      </p:pic>
      <p:sp>
        <p:nvSpPr>
          <p:cNvPr name="TextBox 10" id="10"/>
          <p:cNvSpPr txBox="true"/>
          <p:nvPr/>
        </p:nvSpPr>
        <p:spPr>
          <a:xfrm rot="0">
            <a:off x="5406754" y="1882513"/>
            <a:ext cx="6778278" cy="5962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15"/>
              </a:lnSpc>
            </a:pPr>
            <a:r>
              <a:rPr lang="en-US" sz="4300">
                <a:solidFill>
                  <a:srgbClr val="F47C00"/>
                </a:solidFill>
                <a:latin typeface="Inter Bold"/>
                <a:ea typeface="Inter Bold"/>
              </a:rPr>
              <a:t>⬅️ </a:t>
            </a:r>
            <a:r>
              <a:rPr lang="en-US" sz="4300">
                <a:solidFill>
                  <a:srgbClr val="000000"/>
                </a:solidFill>
                <a:ea typeface="Inter Bold"/>
              </a:rPr>
              <a:t>노숙인 프로필 추가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557207" y="7602516"/>
            <a:ext cx="7167768" cy="5962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515"/>
              </a:lnSpc>
            </a:pPr>
            <a:r>
              <a:rPr lang="en-US" sz="4300">
                <a:solidFill>
                  <a:srgbClr val="000000"/>
                </a:solidFill>
                <a:ea typeface="Inter Bold"/>
              </a:rPr>
              <a:t>이름을 알 수 없는 노숙인 </a:t>
            </a:r>
            <a:r>
              <a:rPr lang="en-US" sz="4300">
                <a:solidFill>
                  <a:srgbClr val="F47C00"/>
                </a:solidFill>
                <a:ea typeface="Inter Bold"/>
              </a:rPr>
              <a:t>➡️</a:t>
            </a:r>
          </a:p>
        </p:txBody>
      </p:sp>
    </p:spTree>
  </p:cSld>
  <p:clrMapOvr>
    <a:masterClrMapping/>
  </p:clrMapOvr>
  <p:timing>
    <p:tnLst>
      <p:par>
        <p:cTn dur="indefinite" restart="never" nodeType="tmRoot">
          <p:childTnLst>
            <p:video>
              <p:cMediaNode vol="100000">
                <p:cTn fill="hold" display="false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  <p:video>
              <p:cMediaNode vol="100000">
                <p:cTn fill="hold" display="false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DAGGzK-5gJI</dc:identifier>
  <dcterms:modified xsi:type="dcterms:W3CDTF">2011-08-01T06:04:30Z</dcterms:modified>
  <cp:revision>1</cp:revision>
  <dc:title>[Aegis] 240704_피우다 기말발표 자료</dc:title>
</cp:coreProperties>
</file>